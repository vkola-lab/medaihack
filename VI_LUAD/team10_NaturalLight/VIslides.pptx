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73" r:id="rId3"/>
    <p:sldId id="274" r:id="rId4"/>
    <p:sldId id="2134960450" r:id="rId5"/>
    <p:sldId id="2134960451" r:id="rId6"/>
    <p:sldId id="267" r:id="rId7"/>
    <p:sldId id="2134960452" r:id="rId8"/>
    <p:sldId id="213496045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48"/>
  </p:normalViewPr>
  <p:slideViewPr>
    <p:cSldViewPr snapToGrid="0">
      <p:cViewPr varScale="1">
        <p:scale>
          <a:sx n="107" d="100"/>
          <a:sy n="107" d="100"/>
        </p:scale>
        <p:origin x="640" y="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Users\marclenb\Downloads\explorer_download-2.csv"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Users\marclenb\Downloads\explorer_download-2.csv"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4942379134562771E-2"/>
          <c:y val="4.0440281926751795E-2"/>
          <c:w val="0.88550641760845183"/>
          <c:h val="0.77662375764887703"/>
        </c:manualLayout>
      </c:layout>
      <c:barChart>
        <c:barDir val="col"/>
        <c:grouping val="percentStacked"/>
        <c:varyColors val="0"/>
        <c:ser>
          <c:idx val="0"/>
          <c:order val="0"/>
          <c:tx>
            <c:strRef>
              <c:f>'explorer_download-2'!$B$29</c:f>
              <c:strCache>
                <c:ptCount val="1"/>
                <c:pt idx="0">
                  <c:v>Localized</c:v>
                </c:pt>
              </c:strCache>
            </c:strRef>
          </c:tx>
          <c:spPr>
            <a:solidFill>
              <a:schemeClr val="accent1"/>
            </a:solidFill>
            <a:ln>
              <a:noFill/>
            </a:ln>
            <a:effectLst/>
          </c:spPr>
          <c:invertIfNegative val="0"/>
          <c:cat>
            <c:strRef>
              <c:f>'explorer_download-2'!$A$30:$A$33</c:f>
              <c:strCache>
                <c:ptCount val="4"/>
                <c:pt idx="0">
                  <c:v>lung</c:v>
                </c:pt>
                <c:pt idx="1">
                  <c:v>breast</c:v>
                </c:pt>
                <c:pt idx="2">
                  <c:v>prostate</c:v>
                </c:pt>
                <c:pt idx="3">
                  <c:v>colorectal</c:v>
                </c:pt>
              </c:strCache>
            </c:strRef>
          </c:cat>
          <c:val>
            <c:numRef>
              <c:f>'explorer_download-2'!$B$30:$B$33</c:f>
              <c:numCache>
                <c:formatCode>General</c:formatCode>
                <c:ptCount val="4"/>
                <c:pt idx="0">
                  <c:v>12</c:v>
                </c:pt>
                <c:pt idx="1">
                  <c:v>64</c:v>
                </c:pt>
                <c:pt idx="2">
                  <c:v>69</c:v>
                </c:pt>
                <c:pt idx="3">
                  <c:v>34</c:v>
                </c:pt>
              </c:numCache>
            </c:numRef>
          </c:val>
          <c:extLst>
            <c:ext xmlns:c16="http://schemas.microsoft.com/office/drawing/2014/chart" uri="{C3380CC4-5D6E-409C-BE32-E72D297353CC}">
              <c16:uniqueId val="{00000000-B032-2342-BEF0-CD88FD67E410}"/>
            </c:ext>
          </c:extLst>
        </c:ser>
        <c:ser>
          <c:idx val="1"/>
          <c:order val="1"/>
          <c:tx>
            <c:strRef>
              <c:f>'explorer_download-2'!$C$29</c:f>
              <c:strCache>
                <c:ptCount val="1"/>
                <c:pt idx="0">
                  <c:v>Regional</c:v>
                </c:pt>
              </c:strCache>
            </c:strRef>
          </c:tx>
          <c:spPr>
            <a:solidFill>
              <a:schemeClr val="accent2"/>
            </a:solidFill>
            <a:ln>
              <a:noFill/>
            </a:ln>
            <a:effectLst/>
          </c:spPr>
          <c:invertIfNegative val="0"/>
          <c:cat>
            <c:strRef>
              <c:f>'explorer_download-2'!$A$30:$A$33</c:f>
              <c:strCache>
                <c:ptCount val="4"/>
                <c:pt idx="0">
                  <c:v>lung</c:v>
                </c:pt>
                <c:pt idx="1">
                  <c:v>breast</c:v>
                </c:pt>
                <c:pt idx="2">
                  <c:v>prostate</c:v>
                </c:pt>
                <c:pt idx="3">
                  <c:v>colorectal</c:v>
                </c:pt>
              </c:strCache>
            </c:strRef>
          </c:cat>
          <c:val>
            <c:numRef>
              <c:f>'explorer_download-2'!$C$30:$C$33</c:f>
              <c:numCache>
                <c:formatCode>General</c:formatCode>
                <c:ptCount val="4"/>
                <c:pt idx="0">
                  <c:v>12</c:v>
                </c:pt>
                <c:pt idx="1">
                  <c:v>28</c:v>
                </c:pt>
                <c:pt idx="2">
                  <c:v>14</c:v>
                </c:pt>
                <c:pt idx="3">
                  <c:v>37</c:v>
                </c:pt>
              </c:numCache>
            </c:numRef>
          </c:val>
          <c:extLst>
            <c:ext xmlns:c16="http://schemas.microsoft.com/office/drawing/2014/chart" uri="{C3380CC4-5D6E-409C-BE32-E72D297353CC}">
              <c16:uniqueId val="{00000001-B032-2342-BEF0-CD88FD67E410}"/>
            </c:ext>
          </c:extLst>
        </c:ser>
        <c:ser>
          <c:idx val="2"/>
          <c:order val="2"/>
          <c:tx>
            <c:strRef>
              <c:f>'explorer_download-2'!$D$29</c:f>
              <c:strCache>
                <c:ptCount val="1"/>
                <c:pt idx="0">
                  <c:v>Distant</c:v>
                </c:pt>
              </c:strCache>
            </c:strRef>
          </c:tx>
          <c:spPr>
            <a:solidFill>
              <a:schemeClr val="accent3"/>
            </a:solidFill>
            <a:ln>
              <a:noFill/>
            </a:ln>
            <a:effectLst/>
          </c:spPr>
          <c:invertIfNegative val="0"/>
          <c:cat>
            <c:strRef>
              <c:f>'explorer_download-2'!$A$30:$A$33</c:f>
              <c:strCache>
                <c:ptCount val="4"/>
                <c:pt idx="0">
                  <c:v>lung</c:v>
                </c:pt>
                <c:pt idx="1">
                  <c:v>breast</c:v>
                </c:pt>
                <c:pt idx="2">
                  <c:v>prostate</c:v>
                </c:pt>
                <c:pt idx="3">
                  <c:v>colorectal</c:v>
                </c:pt>
              </c:strCache>
            </c:strRef>
          </c:cat>
          <c:val>
            <c:numRef>
              <c:f>'explorer_download-2'!$D$30:$D$33</c:f>
              <c:numCache>
                <c:formatCode>General</c:formatCode>
                <c:ptCount val="4"/>
                <c:pt idx="0">
                  <c:v>28</c:v>
                </c:pt>
                <c:pt idx="1">
                  <c:v>6</c:v>
                </c:pt>
                <c:pt idx="2">
                  <c:v>8</c:v>
                </c:pt>
                <c:pt idx="3">
                  <c:v>23</c:v>
                </c:pt>
              </c:numCache>
            </c:numRef>
          </c:val>
          <c:extLst>
            <c:ext xmlns:c16="http://schemas.microsoft.com/office/drawing/2014/chart" uri="{C3380CC4-5D6E-409C-BE32-E72D297353CC}">
              <c16:uniqueId val="{00000002-B032-2342-BEF0-CD88FD67E410}"/>
            </c:ext>
          </c:extLst>
        </c:ser>
        <c:dLbls>
          <c:showLegendKey val="0"/>
          <c:showVal val="0"/>
          <c:showCatName val="0"/>
          <c:showSerName val="0"/>
          <c:showPercent val="0"/>
          <c:showBubbleSize val="0"/>
        </c:dLbls>
        <c:gapWidth val="50"/>
        <c:overlap val="100"/>
        <c:axId val="728293695"/>
        <c:axId val="567491455"/>
      </c:barChart>
      <c:catAx>
        <c:axId val="72829369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567491455"/>
        <c:crosses val="autoZero"/>
        <c:auto val="1"/>
        <c:lblAlgn val="ctr"/>
        <c:lblOffset val="100"/>
        <c:noMultiLvlLbl val="0"/>
      </c:catAx>
      <c:valAx>
        <c:axId val="567491455"/>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728293695"/>
        <c:crosses val="autoZero"/>
        <c:crossBetween val="between"/>
        <c:majorUnit val="0.1"/>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400" b="1" i="0" u="none" strike="noStrike" kern="1200" spc="0" baseline="0">
                <a:solidFill>
                  <a:schemeClr val="tx1">
                    <a:lumMod val="65000"/>
                    <a:lumOff val="35000"/>
                  </a:schemeClr>
                </a:solidFill>
                <a:latin typeface="+mn-lt"/>
                <a:ea typeface="+mn-ea"/>
                <a:cs typeface="+mn-cs"/>
              </a:defRPr>
            </a:pPr>
            <a:r>
              <a:rPr lang="en-US" sz="2400" b="1"/>
              <a:t>Lung Cancer 5-year survival</a:t>
            </a:r>
          </a:p>
        </c:rich>
      </c:tx>
      <c:overlay val="0"/>
      <c:spPr>
        <a:noFill/>
        <a:ln>
          <a:noFill/>
        </a:ln>
        <a:effectLst/>
      </c:spPr>
      <c:txPr>
        <a:bodyPr rot="0" spcFirstLastPara="1" vertOverflow="ellipsis" vert="horz" wrap="square" anchor="ctr" anchorCtr="1"/>
        <a:lstStyle/>
        <a:p>
          <a:pPr>
            <a:defRPr sz="24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1"/>
            </a:solidFill>
            <a:ln>
              <a:noFill/>
            </a:ln>
            <a:effectLst/>
          </c:spPr>
          <c:invertIfNegative val="0"/>
          <c:dPt>
            <c:idx val="0"/>
            <c:invertIfNegative val="0"/>
            <c:bubble3D val="0"/>
            <c:spPr>
              <a:solidFill>
                <a:schemeClr val="accent3"/>
              </a:solidFill>
              <a:ln>
                <a:noFill/>
              </a:ln>
              <a:effectLst/>
            </c:spPr>
            <c:extLst>
              <c:ext xmlns:c16="http://schemas.microsoft.com/office/drawing/2014/chart" uri="{C3380CC4-5D6E-409C-BE32-E72D297353CC}">
                <c16:uniqueId val="{00000001-5AFA-D042-9560-663759D4EE3C}"/>
              </c:ext>
            </c:extLst>
          </c:dPt>
          <c:dPt>
            <c:idx val="1"/>
            <c:invertIfNegative val="0"/>
            <c:bubble3D val="0"/>
            <c:spPr>
              <a:solidFill>
                <a:schemeClr val="accent2"/>
              </a:solidFill>
              <a:ln>
                <a:noFill/>
              </a:ln>
              <a:effectLst/>
            </c:spPr>
            <c:extLst>
              <c:ext xmlns:c16="http://schemas.microsoft.com/office/drawing/2014/chart" uri="{C3380CC4-5D6E-409C-BE32-E72D297353CC}">
                <c16:uniqueId val="{00000003-5AFA-D042-9560-663759D4EE3C}"/>
              </c:ext>
            </c:extLst>
          </c:dPt>
          <c:dPt>
            <c:idx val="2"/>
            <c:invertIfNegative val="0"/>
            <c:bubble3D val="0"/>
            <c:spPr>
              <a:solidFill>
                <a:schemeClr val="accent1"/>
              </a:solidFill>
              <a:ln>
                <a:noFill/>
              </a:ln>
              <a:effectLst/>
            </c:spPr>
            <c:extLst>
              <c:ext xmlns:c16="http://schemas.microsoft.com/office/drawing/2014/chart" uri="{C3380CC4-5D6E-409C-BE32-E72D297353CC}">
                <c16:uniqueId val="{00000005-5AFA-D042-9560-663759D4EE3C}"/>
              </c:ext>
            </c:extLst>
          </c:dPt>
          <c:cat>
            <c:strRef>
              <c:f>'explorer_download-2'!$B$1:$D$1</c:f>
              <c:strCache>
                <c:ptCount val="3"/>
                <c:pt idx="0">
                  <c:v>Distant</c:v>
                </c:pt>
                <c:pt idx="1">
                  <c:v>Regional</c:v>
                </c:pt>
                <c:pt idx="2">
                  <c:v>Localized</c:v>
                </c:pt>
              </c:strCache>
            </c:strRef>
          </c:cat>
          <c:val>
            <c:numRef>
              <c:f>'explorer_download-2'!$B$26:$D$26</c:f>
              <c:numCache>
                <c:formatCode>0.00%</c:formatCode>
                <c:ptCount val="3"/>
                <c:pt idx="0">
                  <c:v>9.7000000000000003E-2</c:v>
                </c:pt>
                <c:pt idx="1">
                  <c:v>0.371</c:v>
                </c:pt>
                <c:pt idx="2">
                  <c:v>0.64700000000000002</c:v>
                </c:pt>
              </c:numCache>
            </c:numRef>
          </c:val>
          <c:extLst>
            <c:ext xmlns:c16="http://schemas.microsoft.com/office/drawing/2014/chart" uri="{C3380CC4-5D6E-409C-BE32-E72D297353CC}">
              <c16:uniqueId val="{00000006-5AFA-D042-9560-663759D4EE3C}"/>
            </c:ext>
          </c:extLst>
        </c:ser>
        <c:dLbls>
          <c:showLegendKey val="0"/>
          <c:showVal val="0"/>
          <c:showCatName val="0"/>
          <c:showSerName val="0"/>
          <c:showPercent val="0"/>
          <c:showBubbleSize val="0"/>
        </c:dLbls>
        <c:gapWidth val="75"/>
        <c:overlap val="-27"/>
        <c:axId val="725665087"/>
        <c:axId val="725670911"/>
      </c:barChart>
      <c:catAx>
        <c:axId val="7256650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crossAx val="725670911"/>
        <c:crosses val="autoZero"/>
        <c:auto val="1"/>
        <c:lblAlgn val="ctr"/>
        <c:lblOffset val="100"/>
        <c:noMultiLvlLbl val="0"/>
      </c:catAx>
      <c:valAx>
        <c:axId val="725670911"/>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725665087"/>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509560-7EBD-A04A-A860-156540F77F56}" type="datetimeFigureOut">
              <a:rPr lang="en-US" smtClean="0"/>
              <a:t>4/7/26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B52B81-5EF8-4346-BD48-EDFDF37CA624}" type="slidenum">
              <a:rPr lang="en-US" smtClean="0"/>
              <a:t>‹#›</a:t>
            </a:fld>
            <a:endParaRPr lang="en-US"/>
          </a:p>
        </p:txBody>
      </p:sp>
    </p:spTree>
    <p:extLst>
      <p:ext uri="{BB962C8B-B14F-4D97-AF65-F5344CB8AC3E}">
        <p14:creationId xmlns:p14="http://schemas.microsoft.com/office/powerpoint/2010/main" val="3975022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Lung cancer is the leading cause of cancer death and represents 11.1% of all new cancer cases.  Prior to this year, more people died of lung cancer than breast, prostate, and colorectal cancer combined.  This is no longer true potentially as a result of increased lung cancer screening and new treatments. </a:t>
            </a:r>
          </a:p>
        </p:txBody>
      </p:sp>
      <p:sp>
        <p:nvSpPr>
          <p:cNvPr id="4" name="Slide Number Placeholder 3"/>
          <p:cNvSpPr>
            <a:spLocks noGrp="1"/>
          </p:cNvSpPr>
          <p:nvPr>
            <p:ph type="sldNum" sz="quarter" idx="5"/>
          </p:nvPr>
        </p:nvSpPr>
        <p:spPr/>
        <p:txBody>
          <a:bodyPr/>
          <a:lstStyle/>
          <a:p>
            <a:fld id="{79B0F8EE-616C-414E-88B4-CB5DB1015929}" type="slidenum">
              <a:rPr lang="en-US" smtClean="0"/>
              <a:t>2</a:t>
            </a:fld>
            <a:endParaRPr lang="en-US"/>
          </a:p>
        </p:txBody>
      </p:sp>
    </p:spTree>
    <p:extLst>
      <p:ext uri="{BB962C8B-B14F-4D97-AF65-F5344CB8AC3E}">
        <p14:creationId xmlns:p14="http://schemas.microsoft.com/office/powerpoint/2010/main" val="19672456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Lung cancer is often detected at a later stage in comparison to breast, prostate, and colorectal cancer that have long-established screening programs.  When lung cancer is detected early and is localized the 5-year survival is much higher compared to after it metastasizes to the lymph nodes or outside the lung.</a:t>
            </a:r>
          </a:p>
        </p:txBody>
      </p:sp>
      <p:sp>
        <p:nvSpPr>
          <p:cNvPr id="4" name="Slide Number Placeholder 3"/>
          <p:cNvSpPr>
            <a:spLocks noGrp="1"/>
          </p:cNvSpPr>
          <p:nvPr>
            <p:ph type="sldNum" sz="quarter" idx="5"/>
          </p:nvPr>
        </p:nvSpPr>
        <p:spPr/>
        <p:txBody>
          <a:bodyPr/>
          <a:lstStyle/>
          <a:p>
            <a:fld id="{B5B52B81-5EF8-4346-BD48-EDFDF37CA624}" type="slidenum">
              <a:rPr lang="en-US" smtClean="0"/>
              <a:t>3</a:t>
            </a:fld>
            <a:endParaRPr lang="en-US"/>
          </a:p>
        </p:txBody>
      </p:sp>
    </p:spTree>
    <p:extLst>
      <p:ext uri="{BB962C8B-B14F-4D97-AF65-F5344CB8AC3E}">
        <p14:creationId xmlns:p14="http://schemas.microsoft.com/office/powerpoint/2010/main" val="20251033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National Lung Cancer Screening trial was published in NEJM in 2011 and show that CT screening results in a 20% reduction in lung cancer mortality and paved the way for lung cancer screening programs to be implemented in the US.</a:t>
            </a:r>
          </a:p>
        </p:txBody>
      </p:sp>
      <p:sp>
        <p:nvSpPr>
          <p:cNvPr id="4" name="Slide Number Placeholder 3"/>
          <p:cNvSpPr>
            <a:spLocks noGrp="1"/>
          </p:cNvSpPr>
          <p:nvPr>
            <p:ph type="sldNum" sz="quarter" idx="5"/>
          </p:nvPr>
        </p:nvSpPr>
        <p:spPr/>
        <p:txBody>
          <a:bodyPr/>
          <a:lstStyle/>
          <a:p>
            <a:fld id="{B5B52B81-5EF8-4346-BD48-EDFDF37CA624}" type="slidenum">
              <a:rPr lang="en-US" smtClean="0"/>
              <a:t>4</a:t>
            </a:fld>
            <a:endParaRPr lang="en-US"/>
          </a:p>
        </p:txBody>
      </p:sp>
    </p:spTree>
    <p:extLst>
      <p:ext uri="{BB962C8B-B14F-4D97-AF65-F5344CB8AC3E}">
        <p14:creationId xmlns:p14="http://schemas.microsoft.com/office/powerpoint/2010/main" val="33807916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people eligible for lung cancer screening, do not get screened and so there is a lot of improvement to be made; however, screening is slowly increasing.   As screening is implemented more broadly we expect to detect more early-stage lung cancers.</a:t>
            </a:r>
          </a:p>
        </p:txBody>
      </p:sp>
      <p:sp>
        <p:nvSpPr>
          <p:cNvPr id="4" name="Slide Number Placeholder 3"/>
          <p:cNvSpPr>
            <a:spLocks noGrp="1"/>
          </p:cNvSpPr>
          <p:nvPr>
            <p:ph type="sldNum" sz="quarter" idx="5"/>
          </p:nvPr>
        </p:nvSpPr>
        <p:spPr/>
        <p:txBody>
          <a:bodyPr/>
          <a:lstStyle/>
          <a:p>
            <a:fld id="{B5B52B81-5EF8-4346-BD48-EDFDF37CA624}" type="slidenum">
              <a:rPr lang="en-US" smtClean="0"/>
              <a:t>5</a:t>
            </a:fld>
            <a:endParaRPr lang="en-US"/>
          </a:p>
        </p:txBody>
      </p:sp>
    </p:spTree>
    <p:extLst>
      <p:ext uri="{BB962C8B-B14F-4D97-AF65-F5344CB8AC3E}">
        <p14:creationId xmlns:p14="http://schemas.microsoft.com/office/powerpoint/2010/main" val="4005068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the number of early-stage lung cancers detected is rapidly increasing, it is very important to optimize treatment of to maximize survivorship.  After a suspicious lung nodule is detected by CT scan, it is biopsied to confirm that it is cancer.  If the cancer is very small and localized, it can undergo a tumor resection for potential cure.  There are different types of lung cancer surgery that can be performed and they differ by the extent of lung tissue that is resected.  About 10% of stage I lung adenocarcinomas recur after resection.   Aggressive tumors that have a higher potential to occur can be identified by specific pathologic features.  These pathologic features can be identified after resection to help determine optimal treatment.  It would also be advantageous to identify these features in a pre-surgical biopsy so the type of lung cancer resection surgery could be tailored to tumor features.</a:t>
            </a:r>
          </a:p>
        </p:txBody>
      </p:sp>
      <p:sp>
        <p:nvSpPr>
          <p:cNvPr id="4" name="Slide Number Placeholder 3"/>
          <p:cNvSpPr>
            <a:spLocks noGrp="1"/>
          </p:cNvSpPr>
          <p:nvPr>
            <p:ph type="sldNum" sz="quarter" idx="5"/>
          </p:nvPr>
        </p:nvSpPr>
        <p:spPr/>
        <p:txBody>
          <a:bodyPr/>
          <a:lstStyle/>
          <a:p>
            <a:fld id="{B5B52B81-5EF8-4346-BD48-EDFDF37CA624}" type="slidenum">
              <a:rPr lang="en-US" smtClean="0"/>
              <a:t>6</a:t>
            </a:fld>
            <a:endParaRPr lang="en-US"/>
          </a:p>
        </p:txBody>
      </p:sp>
    </p:spTree>
    <p:extLst>
      <p:ext uri="{BB962C8B-B14F-4D97-AF65-F5344CB8AC3E}">
        <p14:creationId xmlns:p14="http://schemas.microsoft.com/office/powerpoint/2010/main" val="5617923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Microscopic vascular invasion is an aggressive pathologic feature and is associated with poor prognosis (G3 in right picture).  It can be visualized on H&amp;E-stained tissue and more easily with a Trichrome Elastic Stain.  It is challenging for pathologists to detect because it can be very small.</a:t>
            </a:r>
          </a:p>
        </p:txBody>
      </p:sp>
      <p:sp>
        <p:nvSpPr>
          <p:cNvPr id="4" name="Slide Number Placeholder 3"/>
          <p:cNvSpPr>
            <a:spLocks noGrp="1"/>
          </p:cNvSpPr>
          <p:nvPr>
            <p:ph type="sldNum" sz="quarter" idx="5"/>
          </p:nvPr>
        </p:nvSpPr>
        <p:spPr/>
        <p:txBody>
          <a:bodyPr/>
          <a:lstStyle/>
          <a:p>
            <a:fld id="{9E587D53-5826-C349-934E-6FBF5F40ED9D}" type="slidenum">
              <a:rPr lang="en-US" smtClean="0"/>
              <a:t>7</a:t>
            </a:fld>
            <a:endParaRPr lang="en-US"/>
          </a:p>
        </p:txBody>
      </p:sp>
    </p:spTree>
    <p:extLst>
      <p:ext uri="{BB962C8B-B14F-4D97-AF65-F5344CB8AC3E}">
        <p14:creationId xmlns:p14="http://schemas.microsoft.com/office/powerpoint/2010/main" val="5220238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0E2FD-6DD6-2729-A64D-139EE3B67B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C7328E-CEEB-4EFE-DDB4-F59034A0907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DCBD848-8F45-128E-8B34-9C854D96A1BD}"/>
              </a:ext>
            </a:extLst>
          </p:cNvPr>
          <p:cNvSpPr>
            <a:spLocks noGrp="1"/>
          </p:cNvSpPr>
          <p:nvPr>
            <p:ph type="body" idx="1"/>
          </p:nvPr>
        </p:nvSpPr>
        <p:spPr/>
        <p:txBody>
          <a:bodyPr/>
          <a:lstStyle/>
          <a:p>
            <a:r>
              <a:rPr lang="en-US" dirty="0"/>
              <a:t>The challenge is to detect VI in H&amp;E-stained lung resection tissues.  VI is patient level label, but patients can have multiple slides, only some of which will contain a VI foci.  It would be advantageous for the predictor to be able to detect VI across all slides because we would like to test it on pre-surgical biopsies.    In this challenge the training slides are from lung adenocarcinoma cases from the NLST (National Lung Cancer Screening Trial) that have been reviewed by a pathologist for the presence/absence of VI.  The predictor developed will be tested in similar slides from an external datasets collected </a:t>
            </a:r>
            <a:r>
              <a:rPr lang="en-US"/>
              <a:t>at Inova and Lahey.</a:t>
            </a:r>
            <a:endParaRPr lang="en-US" dirty="0"/>
          </a:p>
        </p:txBody>
      </p:sp>
      <p:sp>
        <p:nvSpPr>
          <p:cNvPr id="4" name="Slide Number Placeholder 3">
            <a:extLst>
              <a:ext uri="{FF2B5EF4-FFF2-40B4-BE49-F238E27FC236}">
                <a16:creationId xmlns:a16="http://schemas.microsoft.com/office/drawing/2014/main" id="{99BA4A94-A59E-29E0-BAD4-3AED71EE210F}"/>
              </a:ext>
            </a:extLst>
          </p:cNvPr>
          <p:cNvSpPr>
            <a:spLocks noGrp="1"/>
          </p:cNvSpPr>
          <p:nvPr>
            <p:ph type="sldNum" sz="quarter" idx="5"/>
          </p:nvPr>
        </p:nvSpPr>
        <p:spPr/>
        <p:txBody>
          <a:bodyPr/>
          <a:lstStyle/>
          <a:p>
            <a:fld id="{9E587D53-5826-C349-934E-6FBF5F40ED9D}" type="slidenum">
              <a:rPr lang="en-US" smtClean="0"/>
              <a:t>8</a:t>
            </a:fld>
            <a:endParaRPr lang="en-US"/>
          </a:p>
        </p:txBody>
      </p:sp>
    </p:spTree>
    <p:extLst>
      <p:ext uri="{BB962C8B-B14F-4D97-AF65-F5344CB8AC3E}">
        <p14:creationId xmlns:p14="http://schemas.microsoft.com/office/powerpoint/2010/main" val="39254687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179F3-4A1B-820B-04D8-527479F63FC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F1B9BA2-D56F-5D4E-F667-E5BEBB97E98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F3ABD59-5959-1F35-2A0E-8BCDE6FCEAF8}"/>
              </a:ext>
            </a:extLst>
          </p:cNvPr>
          <p:cNvSpPr>
            <a:spLocks noGrp="1"/>
          </p:cNvSpPr>
          <p:nvPr>
            <p:ph type="dt" sz="half" idx="10"/>
          </p:nvPr>
        </p:nvSpPr>
        <p:spPr/>
        <p:txBody>
          <a:bodyPr/>
          <a:lstStyle/>
          <a:p>
            <a:fld id="{A8876C0F-9613-F942-ABBB-4145CFDD3EF0}" type="datetimeFigureOut">
              <a:rPr lang="en-US" smtClean="0"/>
              <a:t>4/7/26</a:t>
            </a:fld>
            <a:endParaRPr lang="en-US"/>
          </a:p>
        </p:txBody>
      </p:sp>
      <p:sp>
        <p:nvSpPr>
          <p:cNvPr id="5" name="Footer Placeholder 4">
            <a:extLst>
              <a:ext uri="{FF2B5EF4-FFF2-40B4-BE49-F238E27FC236}">
                <a16:creationId xmlns:a16="http://schemas.microsoft.com/office/drawing/2014/main" id="{33AA0B3A-95E7-B385-8D32-ED55F6C4E5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7BC4EB-CAE8-A9C9-7C91-14B3229AE7C5}"/>
              </a:ext>
            </a:extLst>
          </p:cNvPr>
          <p:cNvSpPr>
            <a:spLocks noGrp="1"/>
          </p:cNvSpPr>
          <p:nvPr>
            <p:ph type="sldNum" sz="quarter" idx="12"/>
          </p:nvPr>
        </p:nvSpPr>
        <p:spPr/>
        <p:txBody>
          <a:bodyPr/>
          <a:lstStyle/>
          <a:p>
            <a:fld id="{D3903507-EC97-B94C-AF1F-ED98E5F8C883}" type="slidenum">
              <a:rPr lang="en-US" smtClean="0"/>
              <a:t>‹#›</a:t>
            </a:fld>
            <a:endParaRPr lang="en-US"/>
          </a:p>
        </p:txBody>
      </p:sp>
    </p:spTree>
    <p:extLst>
      <p:ext uri="{BB962C8B-B14F-4D97-AF65-F5344CB8AC3E}">
        <p14:creationId xmlns:p14="http://schemas.microsoft.com/office/powerpoint/2010/main" val="42732658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99027-7727-D3E0-B699-CF010E7F8FC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E4FF4EF-E0BA-7CA4-57EE-7EBBE7BA7D4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72BD20-0089-700B-BD9A-BCE9EEA1D8F5}"/>
              </a:ext>
            </a:extLst>
          </p:cNvPr>
          <p:cNvSpPr>
            <a:spLocks noGrp="1"/>
          </p:cNvSpPr>
          <p:nvPr>
            <p:ph type="dt" sz="half" idx="10"/>
          </p:nvPr>
        </p:nvSpPr>
        <p:spPr/>
        <p:txBody>
          <a:bodyPr/>
          <a:lstStyle/>
          <a:p>
            <a:fld id="{A8876C0F-9613-F942-ABBB-4145CFDD3EF0}" type="datetimeFigureOut">
              <a:rPr lang="en-US" smtClean="0"/>
              <a:t>4/7/26</a:t>
            </a:fld>
            <a:endParaRPr lang="en-US"/>
          </a:p>
        </p:txBody>
      </p:sp>
      <p:sp>
        <p:nvSpPr>
          <p:cNvPr id="5" name="Footer Placeholder 4">
            <a:extLst>
              <a:ext uri="{FF2B5EF4-FFF2-40B4-BE49-F238E27FC236}">
                <a16:creationId xmlns:a16="http://schemas.microsoft.com/office/drawing/2014/main" id="{027709D1-F8F2-6E37-0F83-19834FAAA2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E46BC3-CFA4-C8A6-6673-C90527B287E7}"/>
              </a:ext>
            </a:extLst>
          </p:cNvPr>
          <p:cNvSpPr>
            <a:spLocks noGrp="1"/>
          </p:cNvSpPr>
          <p:nvPr>
            <p:ph type="sldNum" sz="quarter" idx="12"/>
          </p:nvPr>
        </p:nvSpPr>
        <p:spPr/>
        <p:txBody>
          <a:bodyPr/>
          <a:lstStyle/>
          <a:p>
            <a:fld id="{D3903507-EC97-B94C-AF1F-ED98E5F8C883}" type="slidenum">
              <a:rPr lang="en-US" smtClean="0"/>
              <a:t>‹#›</a:t>
            </a:fld>
            <a:endParaRPr lang="en-US"/>
          </a:p>
        </p:txBody>
      </p:sp>
    </p:spTree>
    <p:extLst>
      <p:ext uri="{BB962C8B-B14F-4D97-AF65-F5344CB8AC3E}">
        <p14:creationId xmlns:p14="http://schemas.microsoft.com/office/powerpoint/2010/main" val="3786087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FA52C-1318-8CB8-0B43-D1A8ED131F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083CDBF-870F-E35E-B4AF-BC7AD683555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D2D36F-413F-32B4-9FBF-B810C5A345FB}"/>
              </a:ext>
            </a:extLst>
          </p:cNvPr>
          <p:cNvSpPr>
            <a:spLocks noGrp="1"/>
          </p:cNvSpPr>
          <p:nvPr>
            <p:ph type="dt" sz="half" idx="10"/>
          </p:nvPr>
        </p:nvSpPr>
        <p:spPr/>
        <p:txBody>
          <a:bodyPr/>
          <a:lstStyle/>
          <a:p>
            <a:fld id="{A8876C0F-9613-F942-ABBB-4145CFDD3EF0}" type="datetimeFigureOut">
              <a:rPr lang="en-US" smtClean="0"/>
              <a:t>4/7/26</a:t>
            </a:fld>
            <a:endParaRPr lang="en-US"/>
          </a:p>
        </p:txBody>
      </p:sp>
      <p:sp>
        <p:nvSpPr>
          <p:cNvPr id="5" name="Footer Placeholder 4">
            <a:extLst>
              <a:ext uri="{FF2B5EF4-FFF2-40B4-BE49-F238E27FC236}">
                <a16:creationId xmlns:a16="http://schemas.microsoft.com/office/drawing/2014/main" id="{90CF5EE3-4DAB-9882-EA9A-F796057E1D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400175-F0F1-8AEC-4160-A7E96A1DFFA9}"/>
              </a:ext>
            </a:extLst>
          </p:cNvPr>
          <p:cNvSpPr>
            <a:spLocks noGrp="1"/>
          </p:cNvSpPr>
          <p:nvPr>
            <p:ph type="sldNum" sz="quarter" idx="12"/>
          </p:nvPr>
        </p:nvSpPr>
        <p:spPr/>
        <p:txBody>
          <a:bodyPr/>
          <a:lstStyle/>
          <a:p>
            <a:fld id="{D3903507-EC97-B94C-AF1F-ED98E5F8C883}" type="slidenum">
              <a:rPr lang="en-US" smtClean="0"/>
              <a:t>‹#›</a:t>
            </a:fld>
            <a:endParaRPr lang="en-US"/>
          </a:p>
        </p:txBody>
      </p:sp>
    </p:spTree>
    <p:extLst>
      <p:ext uri="{BB962C8B-B14F-4D97-AF65-F5344CB8AC3E}">
        <p14:creationId xmlns:p14="http://schemas.microsoft.com/office/powerpoint/2010/main" val="16051866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BEE7D-EE97-B74B-8B40-DFA3333EE3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16ED749-3EC4-EE24-BE68-B4EE78BFEF8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1ACC14A-67D4-94E2-59F8-1BCBE8DAD8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CE1F771-2E45-9FBA-36F6-6AE06516E8FB}"/>
              </a:ext>
            </a:extLst>
          </p:cNvPr>
          <p:cNvSpPr>
            <a:spLocks noGrp="1"/>
          </p:cNvSpPr>
          <p:nvPr>
            <p:ph type="dt" sz="half" idx="10"/>
          </p:nvPr>
        </p:nvSpPr>
        <p:spPr/>
        <p:txBody>
          <a:bodyPr/>
          <a:lstStyle/>
          <a:p>
            <a:fld id="{A8876C0F-9613-F942-ABBB-4145CFDD3EF0}" type="datetimeFigureOut">
              <a:rPr lang="en-US" smtClean="0"/>
              <a:t>4/7/26</a:t>
            </a:fld>
            <a:endParaRPr lang="en-US"/>
          </a:p>
        </p:txBody>
      </p:sp>
      <p:sp>
        <p:nvSpPr>
          <p:cNvPr id="6" name="Footer Placeholder 5">
            <a:extLst>
              <a:ext uri="{FF2B5EF4-FFF2-40B4-BE49-F238E27FC236}">
                <a16:creationId xmlns:a16="http://schemas.microsoft.com/office/drawing/2014/main" id="{ABEBF5CC-5E0A-4F86-5669-2C79FBBF1F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EB0FAC-F947-8A13-DCD8-DE82F610967B}"/>
              </a:ext>
            </a:extLst>
          </p:cNvPr>
          <p:cNvSpPr>
            <a:spLocks noGrp="1"/>
          </p:cNvSpPr>
          <p:nvPr>
            <p:ph type="sldNum" sz="quarter" idx="12"/>
          </p:nvPr>
        </p:nvSpPr>
        <p:spPr/>
        <p:txBody>
          <a:bodyPr/>
          <a:lstStyle/>
          <a:p>
            <a:fld id="{D3903507-EC97-B94C-AF1F-ED98E5F8C883}" type="slidenum">
              <a:rPr lang="en-US" smtClean="0"/>
              <a:t>‹#›</a:t>
            </a:fld>
            <a:endParaRPr lang="en-US"/>
          </a:p>
        </p:txBody>
      </p:sp>
    </p:spTree>
    <p:extLst>
      <p:ext uri="{BB962C8B-B14F-4D97-AF65-F5344CB8AC3E}">
        <p14:creationId xmlns:p14="http://schemas.microsoft.com/office/powerpoint/2010/main" val="7690175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32828-EC60-294B-3559-55CD3B5B2A4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2929D7D-A69A-25EB-0FA1-4D6E6AED808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02C3529-7B2D-CAF9-1C43-2B8B2E41E29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7FD4B1E-CE73-78E7-68FA-05FA2F46A38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ACDF49A-9080-161A-C3E5-3A4D1DF620C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FBD13B6-A643-22AF-7D85-3D5D9735DEF4}"/>
              </a:ext>
            </a:extLst>
          </p:cNvPr>
          <p:cNvSpPr>
            <a:spLocks noGrp="1"/>
          </p:cNvSpPr>
          <p:nvPr>
            <p:ph type="dt" sz="half" idx="10"/>
          </p:nvPr>
        </p:nvSpPr>
        <p:spPr/>
        <p:txBody>
          <a:bodyPr/>
          <a:lstStyle/>
          <a:p>
            <a:fld id="{A8876C0F-9613-F942-ABBB-4145CFDD3EF0}" type="datetimeFigureOut">
              <a:rPr lang="en-US" smtClean="0"/>
              <a:t>4/7/26</a:t>
            </a:fld>
            <a:endParaRPr lang="en-US"/>
          </a:p>
        </p:txBody>
      </p:sp>
      <p:sp>
        <p:nvSpPr>
          <p:cNvPr id="8" name="Footer Placeholder 7">
            <a:extLst>
              <a:ext uri="{FF2B5EF4-FFF2-40B4-BE49-F238E27FC236}">
                <a16:creationId xmlns:a16="http://schemas.microsoft.com/office/drawing/2014/main" id="{59407919-BDC9-4D11-1901-B7EDB1240C2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DE41BED-9D01-0907-3F84-5EC8BC43D0D7}"/>
              </a:ext>
            </a:extLst>
          </p:cNvPr>
          <p:cNvSpPr>
            <a:spLocks noGrp="1"/>
          </p:cNvSpPr>
          <p:nvPr>
            <p:ph type="sldNum" sz="quarter" idx="12"/>
          </p:nvPr>
        </p:nvSpPr>
        <p:spPr/>
        <p:txBody>
          <a:bodyPr/>
          <a:lstStyle/>
          <a:p>
            <a:fld id="{D3903507-EC97-B94C-AF1F-ED98E5F8C883}" type="slidenum">
              <a:rPr lang="en-US" smtClean="0"/>
              <a:t>‹#›</a:t>
            </a:fld>
            <a:endParaRPr lang="en-US"/>
          </a:p>
        </p:txBody>
      </p:sp>
    </p:spTree>
    <p:extLst>
      <p:ext uri="{BB962C8B-B14F-4D97-AF65-F5344CB8AC3E}">
        <p14:creationId xmlns:p14="http://schemas.microsoft.com/office/powerpoint/2010/main" val="23292743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D64FF-6826-B970-EA03-C6D4714688C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321CC9E-A229-F9C6-8997-89E4F4AB49D3}"/>
              </a:ext>
            </a:extLst>
          </p:cNvPr>
          <p:cNvSpPr>
            <a:spLocks noGrp="1"/>
          </p:cNvSpPr>
          <p:nvPr>
            <p:ph type="dt" sz="half" idx="10"/>
          </p:nvPr>
        </p:nvSpPr>
        <p:spPr/>
        <p:txBody>
          <a:bodyPr/>
          <a:lstStyle/>
          <a:p>
            <a:fld id="{A8876C0F-9613-F942-ABBB-4145CFDD3EF0}" type="datetimeFigureOut">
              <a:rPr lang="en-US" smtClean="0"/>
              <a:t>4/7/26</a:t>
            </a:fld>
            <a:endParaRPr lang="en-US"/>
          </a:p>
        </p:txBody>
      </p:sp>
      <p:sp>
        <p:nvSpPr>
          <p:cNvPr id="4" name="Footer Placeholder 3">
            <a:extLst>
              <a:ext uri="{FF2B5EF4-FFF2-40B4-BE49-F238E27FC236}">
                <a16:creationId xmlns:a16="http://schemas.microsoft.com/office/drawing/2014/main" id="{78D82B96-D63F-3B32-196D-3327103E776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CC4925D-AC0F-C0DA-B7E5-416C8385F425}"/>
              </a:ext>
            </a:extLst>
          </p:cNvPr>
          <p:cNvSpPr>
            <a:spLocks noGrp="1"/>
          </p:cNvSpPr>
          <p:nvPr>
            <p:ph type="sldNum" sz="quarter" idx="12"/>
          </p:nvPr>
        </p:nvSpPr>
        <p:spPr/>
        <p:txBody>
          <a:bodyPr/>
          <a:lstStyle/>
          <a:p>
            <a:fld id="{D3903507-EC97-B94C-AF1F-ED98E5F8C883}" type="slidenum">
              <a:rPr lang="en-US" smtClean="0"/>
              <a:t>‹#›</a:t>
            </a:fld>
            <a:endParaRPr lang="en-US"/>
          </a:p>
        </p:txBody>
      </p:sp>
    </p:spTree>
    <p:extLst>
      <p:ext uri="{BB962C8B-B14F-4D97-AF65-F5344CB8AC3E}">
        <p14:creationId xmlns:p14="http://schemas.microsoft.com/office/powerpoint/2010/main" val="25995141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D1888C-E3C2-56AB-7E58-139E84D736F0}"/>
              </a:ext>
            </a:extLst>
          </p:cNvPr>
          <p:cNvSpPr>
            <a:spLocks noGrp="1"/>
          </p:cNvSpPr>
          <p:nvPr>
            <p:ph type="dt" sz="half" idx="10"/>
          </p:nvPr>
        </p:nvSpPr>
        <p:spPr/>
        <p:txBody>
          <a:bodyPr/>
          <a:lstStyle/>
          <a:p>
            <a:fld id="{A8876C0F-9613-F942-ABBB-4145CFDD3EF0}" type="datetimeFigureOut">
              <a:rPr lang="en-US" smtClean="0"/>
              <a:t>4/7/26</a:t>
            </a:fld>
            <a:endParaRPr lang="en-US"/>
          </a:p>
        </p:txBody>
      </p:sp>
      <p:sp>
        <p:nvSpPr>
          <p:cNvPr id="3" name="Footer Placeholder 2">
            <a:extLst>
              <a:ext uri="{FF2B5EF4-FFF2-40B4-BE49-F238E27FC236}">
                <a16:creationId xmlns:a16="http://schemas.microsoft.com/office/drawing/2014/main" id="{BB79E835-1C32-3F01-E967-9B062888ABB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3AEC4AC-9BD7-DC6E-76CE-7570645B68A5}"/>
              </a:ext>
            </a:extLst>
          </p:cNvPr>
          <p:cNvSpPr>
            <a:spLocks noGrp="1"/>
          </p:cNvSpPr>
          <p:nvPr>
            <p:ph type="sldNum" sz="quarter" idx="12"/>
          </p:nvPr>
        </p:nvSpPr>
        <p:spPr/>
        <p:txBody>
          <a:bodyPr/>
          <a:lstStyle/>
          <a:p>
            <a:fld id="{D3903507-EC97-B94C-AF1F-ED98E5F8C883}" type="slidenum">
              <a:rPr lang="en-US" smtClean="0"/>
              <a:t>‹#›</a:t>
            </a:fld>
            <a:endParaRPr lang="en-US"/>
          </a:p>
        </p:txBody>
      </p:sp>
    </p:spTree>
    <p:extLst>
      <p:ext uri="{BB962C8B-B14F-4D97-AF65-F5344CB8AC3E}">
        <p14:creationId xmlns:p14="http://schemas.microsoft.com/office/powerpoint/2010/main" val="3346698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7AF92-0719-410A-FAEF-44826B2301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C1EE6AB-54BA-D53A-48F5-67739256E94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4132057-71D6-A767-7BC9-7F868A14CB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3BD05D-36AD-452B-8936-AF2E5654A0A6}"/>
              </a:ext>
            </a:extLst>
          </p:cNvPr>
          <p:cNvSpPr>
            <a:spLocks noGrp="1"/>
          </p:cNvSpPr>
          <p:nvPr>
            <p:ph type="dt" sz="half" idx="10"/>
          </p:nvPr>
        </p:nvSpPr>
        <p:spPr/>
        <p:txBody>
          <a:bodyPr/>
          <a:lstStyle/>
          <a:p>
            <a:fld id="{A8876C0F-9613-F942-ABBB-4145CFDD3EF0}" type="datetimeFigureOut">
              <a:rPr lang="en-US" smtClean="0"/>
              <a:t>4/7/26</a:t>
            </a:fld>
            <a:endParaRPr lang="en-US"/>
          </a:p>
        </p:txBody>
      </p:sp>
      <p:sp>
        <p:nvSpPr>
          <p:cNvPr id="6" name="Footer Placeholder 5">
            <a:extLst>
              <a:ext uri="{FF2B5EF4-FFF2-40B4-BE49-F238E27FC236}">
                <a16:creationId xmlns:a16="http://schemas.microsoft.com/office/drawing/2014/main" id="{0978E200-B480-7128-2CEE-81BB573142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5A2580-71C6-706F-398E-ABC03A85C3E3}"/>
              </a:ext>
            </a:extLst>
          </p:cNvPr>
          <p:cNvSpPr>
            <a:spLocks noGrp="1"/>
          </p:cNvSpPr>
          <p:nvPr>
            <p:ph type="sldNum" sz="quarter" idx="12"/>
          </p:nvPr>
        </p:nvSpPr>
        <p:spPr/>
        <p:txBody>
          <a:bodyPr/>
          <a:lstStyle/>
          <a:p>
            <a:fld id="{D3903507-EC97-B94C-AF1F-ED98E5F8C883}" type="slidenum">
              <a:rPr lang="en-US" smtClean="0"/>
              <a:t>‹#›</a:t>
            </a:fld>
            <a:endParaRPr lang="en-US"/>
          </a:p>
        </p:txBody>
      </p:sp>
    </p:spTree>
    <p:extLst>
      <p:ext uri="{BB962C8B-B14F-4D97-AF65-F5344CB8AC3E}">
        <p14:creationId xmlns:p14="http://schemas.microsoft.com/office/powerpoint/2010/main" val="16601183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14DEC-704D-6B64-995C-069677DF5C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29387EA-0993-ECCD-9C64-C9D5D78982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8234EB2-5F01-7E37-5A69-1C978CB25C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179759-26D1-1157-B568-9E4CABC7291B}"/>
              </a:ext>
            </a:extLst>
          </p:cNvPr>
          <p:cNvSpPr>
            <a:spLocks noGrp="1"/>
          </p:cNvSpPr>
          <p:nvPr>
            <p:ph type="dt" sz="half" idx="10"/>
          </p:nvPr>
        </p:nvSpPr>
        <p:spPr/>
        <p:txBody>
          <a:bodyPr/>
          <a:lstStyle/>
          <a:p>
            <a:fld id="{A8876C0F-9613-F942-ABBB-4145CFDD3EF0}" type="datetimeFigureOut">
              <a:rPr lang="en-US" smtClean="0"/>
              <a:t>4/7/26</a:t>
            </a:fld>
            <a:endParaRPr lang="en-US"/>
          </a:p>
        </p:txBody>
      </p:sp>
      <p:sp>
        <p:nvSpPr>
          <p:cNvPr id="6" name="Footer Placeholder 5">
            <a:extLst>
              <a:ext uri="{FF2B5EF4-FFF2-40B4-BE49-F238E27FC236}">
                <a16:creationId xmlns:a16="http://schemas.microsoft.com/office/drawing/2014/main" id="{EF0EC48B-8D31-C0A4-4EED-8382281B15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38C1CC7-F740-FDCC-EAA3-F2A8D3EBB2D5}"/>
              </a:ext>
            </a:extLst>
          </p:cNvPr>
          <p:cNvSpPr>
            <a:spLocks noGrp="1"/>
          </p:cNvSpPr>
          <p:nvPr>
            <p:ph type="sldNum" sz="quarter" idx="12"/>
          </p:nvPr>
        </p:nvSpPr>
        <p:spPr/>
        <p:txBody>
          <a:bodyPr/>
          <a:lstStyle/>
          <a:p>
            <a:fld id="{D3903507-EC97-B94C-AF1F-ED98E5F8C883}" type="slidenum">
              <a:rPr lang="en-US" smtClean="0"/>
              <a:t>‹#›</a:t>
            </a:fld>
            <a:endParaRPr lang="en-US"/>
          </a:p>
        </p:txBody>
      </p:sp>
    </p:spTree>
    <p:extLst>
      <p:ext uri="{BB962C8B-B14F-4D97-AF65-F5344CB8AC3E}">
        <p14:creationId xmlns:p14="http://schemas.microsoft.com/office/powerpoint/2010/main" val="17023913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309F7-306D-9F3D-B38C-14EDBB81F81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0DAE77B-230E-1A85-F973-275C320E961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7250A2-0615-92B9-506B-D269661DDE31}"/>
              </a:ext>
            </a:extLst>
          </p:cNvPr>
          <p:cNvSpPr>
            <a:spLocks noGrp="1"/>
          </p:cNvSpPr>
          <p:nvPr>
            <p:ph type="dt" sz="half" idx="10"/>
          </p:nvPr>
        </p:nvSpPr>
        <p:spPr/>
        <p:txBody>
          <a:bodyPr/>
          <a:lstStyle/>
          <a:p>
            <a:fld id="{A8876C0F-9613-F942-ABBB-4145CFDD3EF0}" type="datetimeFigureOut">
              <a:rPr lang="en-US" smtClean="0"/>
              <a:t>4/7/26</a:t>
            </a:fld>
            <a:endParaRPr lang="en-US"/>
          </a:p>
        </p:txBody>
      </p:sp>
      <p:sp>
        <p:nvSpPr>
          <p:cNvPr id="5" name="Footer Placeholder 4">
            <a:extLst>
              <a:ext uri="{FF2B5EF4-FFF2-40B4-BE49-F238E27FC236}">
                <a16:creationId xmlns:a16="http://schemas.microsoft.com/office/drawing/2014/main" id="{B406E99F-A693-CA5D-0E6B-D4E33CC6C5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CEE5B2-A1C6-E44F-C205-3C18E744C020}"/>
              </a:ext>
            </a:extLst>
          </p:cNvPr>
          <p:cNvSpPr>
            <a:spLocks noGrp="1"/>
          </p:cNvSpPr>
          <p:nvPr>
            <p:ph type="sldNum" sz="quarter" idx="12"/>
          </p:nvPr>
        </p:nvSpPr>
        <p:spPr/>
        <p:txBody>
          <a:bodyPr/>
          <a:lstStyle/>
          <a:p>
            <a:fld id="{D3903507-EC97-B94C-AF1F-ED98E5F8C883}" type="slidenum">
              <a:rPr lang="en-US" smtClean="0"/>
              <a:t>‹#›</a:t>
            </a:fld>
            <a:endParaRPr lang="en-US"/>
          </a:p>
        </p:txBody>
      </p:sp>
    </p:spTree>
    <p:extLst>
      <p:ext uri="{BB962C8B-B14F-4D97-AF65-F5344CB8AC3E}">
        <p14:creationId xmlns:p14="http://schemas.microsoft.com/office/powerpoint/2010/main" val="37421784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363D739-1F92-9537-60E1-E89B6CF3870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A024DE8-47CF-675D-8AF5-EFA15AF2372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9B7AF5-337C-B805-686D-38073C5DB570}"/>
              </a:ext>
            </a:extLst>
          </p:cNvPr>
          <p:cNvSpPr>
            <a:spLocks noGrp="1"/>
          </p:cNvSpPr>
          <p:nvPr>
            <p:ph type="dt" sz="half" idx="10"/>
          </p:nvPr>
        </p:nvSpPr>
        <p:spPr/>
        <p:txBody>
          <a:bodyPr/>
          <a:lstStyle/>
          <a:p>
            <a:fld id="{A8876C0F-9613-F942-ABBB-4145CFDD3EF0}" type="datetimeFigureOut">
              <a:rPr lang="en-US" smtClean="0"/>
              <a:t>4/7/26</a:t>
            </a:fld>
            <a:endParaRPr lang="en-US"/>
          </a:p>
        </p:txBody>
      </p:sp>
      <p:sp>
        <p:nvSpPr>
          <p:cNvPr id="5" name="Footer Placeholder 4">
            <a:extLst>
              <a:ext uri="{FF2B5EF4-FFF2-40B4-BE49-F238E27FC236}">
                <a16:creationId xmlns:a16="http://schemas.microsoft.com/office/drawing/2014/main" id="{50B7BFB0-00D8-12D8-84AC-639DC65E30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CE0C27-EB29-3280-BCFD-119044136371}"/>
              </a:ext>
            </a:extLst>
          </p:cNvPr>
          <p:cNvSpPr>
            <a:spLocks noGrp="1"/>
          </p:cNvSpPr>
          <p:nvPr>
            <p:ph type="sldNum" sz="quarter" idx="12"/>
          </p:nvPr>
        </p:nvSpPr>
        <p:spPr/>
        <p:txBody>
          <a:bodyPr/>
          <a:lstStyle/>
          <a:p>
            <a:fld id="{D3903507-EC97-B94C-AF1F-ED98E5F8C883}" type="slidenum">
              <a:rPr lang="en-US" smtClean="0"/>
              <a:t>‹#›</a:t>
            </a:fld>
            <a:endParaRPr lang="en-US"/>
          </a:p>
        </p:txBody>
      </p:sp>
    </p:spTree>
    <p:extLst>
      <p:ext uri="{BB962C8B-B14F-4D97-AF65-F5344CB8AC3E}">
        <p14:creationId xmlns:p14="http://schemas.microsoft.com/office/powerpoint/2010/main" val="42759642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A2F6040-B88D-4C02-E9B1-B80BFB600A4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312E74A-D814-B7FC-7C52-49C17ECD6E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3B6C7C-FC6E-A374-223D-0323E9BA2FC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8876C0F-9613-F942-ABBB-4145CFDD3EF0}" type="datetimeFigureOut">
              <a:rPr lang="en-US" smtClean="0"/>
              <a:t>4/7/26</a:t>
            </a:fld>
            <a:endParaRPr lang="en-US"/>
          </a:p>
        </p:txBody>
      </p:sp>
      <p:sp>
        <p:nvSpPr>
          <p:cNvPr id="5" name="Footer Placeholder 4">
            <a:extLst>
              <a:ext uri="{FF2B5EF4-FFF2-40B4-BE49-F238E27FC236}">
                <a16:creationId xmlns:a16="http://schemas.microsoft.com/office/drawing/2014/main" id="{6D7103C3-2FEB-F341-C4C3-9E604571EC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CEE6BE7-A678-A27F-0991-E0EBC7137B5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3903507-EC97-B94C-AF1F-ED98E5F8C883}" type="slidenum">
              <a:rPr lang="en-US" smtClean="0"/>
              <a:t>‹#›</a:t>
            </a:fld>
            <a:endParaRPr lang="en-US"/>
          </a:p>
        </p:txBody>
      </p:sp>
    </p:spTree>
    <p:extLst>
      <p:ext uri="{BB962C8B-B14F-4D97-AF65-F5344CB8AC3E}">
        <p14:creationId xmlns:p14="http://schemas.microsoft.com/office/powerpoint/2010/main" val="5059746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32E3E-6A82-3FF3-FA4C-936A8BA91275}"/>
              </a:ext>
            </a:extLst>
          </p:cNvPr>
          <p:cNvSpPr>
            <a:spLocks noGrp="1"/>
          </p:cNvSpPr>
          <p:nvPr>
            <p:ph type="ctrTitle"/>
          </p:nvPr>
        </p:nvSpPr>
        <p:spPr/>
        <p:txBody>
          <a:bodyPr/>
          <a:lstStyle/>
          <a:p>
            <a:r>
              <a:rPr lang="en-US" dirty="0"/>
              <a:t>Challenge 1:  Lung Cancer Phenotyping</a:t>
            </a:r>
          </a:p>
        </p:txBody>
      </p:sp>
    </p:spTree>
    <p:extLst>
      <p:ext uri="{BB962C8B-B14F-4D97-AF65-F5344CB8AC3E}">
        <p14:creationId xmlns:p14="http://schemas.microsoft.com/office/powerpoint/2010/main" val="5897564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EAB6E-ED84-A63A-C4D6-E045387680DE}"/>
              </a:ext>
            </a:extLst>
          </p:cNvPr>
          <p:cNvSpPr>
            <a:spLocks noGrp="1"/>
          </p:cNvSpPr>
          <p:nvPr>
            <p:ph type="title"/>
          </p:nvPr>
        </p:nvSpPr>
        <p:spPr>
          <a:xfrm>
            <a:off x="811695" y="122093"/>
            <a:ext cx="10999573" cy="1325563"/>
          </a:xfrm>
        </p:spPr>
        <p:txBody>
          <a:bodyPr>
            <a:normAutofit/>
          </a:bodyPr>
          <a:lstStyle/>
          <a:p>
            <a:pPr algn="ctr"/>
            <a:r>
              <a:rPr lang="en-US" b="1"/>
              <a:t>Lung cancer was still the leading cause of cancer death in 2025</a:t>
            </a:r>
          </a:p>
        </p:txBody>
      </p:sp>
      <p:pic>
        <p:nvPicPr>
          <p:cNvPr id="4" name="Picture 2">
            <a:extLst>
              <a:ext uri="{FF2B5EF4-FFF2-40B4-BE49-F238E27FC236}">
                <a16:creationId xmlns:a16="http://schemas.microsoft.com/office/drawing/2014/main" id="{ECBD6BC0-3CF3-D3D7-8549-DCC0B8874F22}"/>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356438" y="1690688"/>
            <a:ext cx="7479124" cy="497054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A4F7065-7D0C-8D8E-49D2-3B2F298C745C}"/>
              </a:ext>
            </a:extLst>
          </p:cNvPr>
          <p:cNvSpPr txBox="1"/>
          <p:nvPr/>
        </p:nvSpPr>
        <p:spPr>
          <a:xfrm>
            <a:off x="5030274" y="6488668"/>
            <a:ext cx="7030994" cy="369332"/>
          </a:xfrm>
          <a:prstGeom prst="rect">
            <a:avLst/>
          </a:prstGeom>
          <a:noFill/>
        </p:spPr>
        <p:txBody>
          <a:bodyPr wrap="square" rtlCol="0">
            <a:spAutoFit/>
          </a:bodyPr>
          <a:lstStyle/>
          <a:p>
            <a:pPr algn="r"/>
            <a:r>
              <a:rPr lang="en-US"/>
              <a:t>NCI SEER Data</a:t>
            </a:r>
          </a:p>
        </p:txBody>
      </p:sp>
      <p:sp>
        <p:nvSpPr>
          <p:cNvPr id="10" name="Left Arrow 9">
            <a:extLst>
              <a:ext uri="{FF2B5EF4-FFF2-40B4-BE49-F238E27FC236}">
                <a16:creationId xmlns:a16="http://schemas.microsoft.com/office/drawing/2014/main" id="{9335A956-C358-DA25-C737-EEA970200A9B}"/>
              </a:ext>
            </a:extLst>
          </p:cNvPr>
          <p:cNvSpPr/>
          <p:nvPr/>
        </p:nvSpPr>
        <p:spPr>
          <a:xfrm>
            <a:off x="7162801" y="2843457"/>
            <a:ext cx="344556" cy="66260"/>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Left Arrow 10">
            <a:extLst>
              <a:ext uri="{FF2B5EF4-FFF2-40B4-BE49-F238E27FC236}">
                <a16:creationId xmlns:a16="http://schemas.microsoft.com/office/drawing/2014/main" id="{0F5F36FC-4513-BBBD-1DF1-F6849436D83E}"/>
              </a:ext>
            </a:extLst>
          </p:cNvPr>
          <p:cNvSpPr/>
          <p:nvPr/>
        </p:nvSpPr>
        <p:spPr>
          <a:xfrm>
            <a:off x="7162801" y="3935032"/>
            <a:ext cx="344556" cy="66260"/>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Left Arrow 11">
            <a:extLst>
              <a:ext uri="{FF2B5EF4-FFF2-40B4-BE49-F238E27FC236}">
                <a16:creationId xmlns:a16="http://schemas.microsoft.com/office/drawing/2014/main" id="{60366547-7A13-7830-7AB9-1ECC2EB5A126}"/>
              </a:ext>
            </a:extLst>
          </p:cNvPr>
          <p:cNvSpPr/>
          <p:nvPr/>
        </p:nvSpPr>
        <p:spPr>
          <a:xfrm>
            <a:off x="7162801" y="3159610"/>
            <a:ext cx="344556" cy="66260"/>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69425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1CD06-02A0-0E92-F105-72FB42667792}"/>
              </a:ext>
            </a:extLst>
          </p:cNvPr>
          <p:cNvSpPr>
            <a:spLocks noGrp="1"/>
          </p:cNvSpPr>
          <p:nvPr>
            <p:ph type="title"/>
          </p:nvPr>
        </p:nvSpPr>
        <p:spPr>
          <a:xfrm>
            <a:off x="1063487" y="0"/>
            <a:ext cx="10515600" cy="1325563"/>
          </a:xfrm>
        </p:spPr>
        <p:txBody>
          <a:bodyPr>
            <a:normAutofit/>
          </a:bodyPr>
          <a:lstStyle/>
          <a:p>
            <a:pPr algn="ctr"/>
            <a:r>
              <a:rPr lang="en-US" b="1"/>
              <a:t>Lung cancer stage at diagnosis relative to other common cancers</a:t>
            </a:r>
          </a:p>
        </p:txBody>
      </p:sp>
      <p:graphicFrame>
        <p:nvGraphicFramePr>
          <p:cNvPr id="6" name="Chart 5">
            <a:extLst>
              <a:ext uri="{FF2B5EF4-FFF2-40B4-BE49-F238E27FC236}">
                <a16:creationId xmlns:a16="http://schemas.microsoft.com/office/drawing/2014/main" id="{50EC12FE-129A-4B62-E391-5F86578E31EA}"/>
              </a:ext>
            </a:extLst>
          </p:cNvPr>
          <p:cNvGraphicFramePr>
            <a:graphicFrameLocks/>
          </p:cNvGraphicFramePr>
          <p:nvPr/>
        </p:nvGraphicFramePr>
        <p:xfrm>
          <a:off x="194842" y="2081514"/>
          <a:ext cx="7146977" cy="4253729"/>
        </p:xfrm>
        <a:graphic>
          <a:graphicData uri="http://schemas.openxmlformats.org/drawingml/2006/chart">
            <c:chart xmlns:c="http://schemas.openxmlformats.org/drawingml/2006/chart" xmlns:r="http://schemas.openxmlformats.org/officeDocument/2006/relationships" r:id="rId3"/>
          </a:graphicData>
        </a:graphic>
      </p:graphicFrame>
      <p:cxnSp>
        <p:nvCxnSpPr>
          <p:cNvPr id="8" name="Straight Connector 7">
            <a:extLst>
              <a:ext uri="{FF2B5EF4-FFF2-40B4-BE49-F238E27FC236}">
                <a16:creationId xmlns:a16="http://schemas.microsoft.com/office/drawing/2014/main" id="{63D7B124-ED87-71F4-0879-4DB7EDF2233C}"/>
              </a:ext>
            </a:extLst>
          </p:cNvPr>
          <p:cNvCxnSpPr/>
          <p:nvPr/>
        </p:nvCxnSpPr>
        <p:spPr>
          <a:xfrm>
            <a:off x="2567340" y="1933233"/>
            <a:ext cx="4361935" cy="0"/>
          </a:xfrm>
          <a:prstGeom prst="line">
            <a:avLst/>
          </a:prstGeom>
          <a:ln w="25400"/>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5BCB44BB-45F3-A4E9-52D1-B8C264B9DA03}"/>
              </a:ext>
            </a:extLst>
          </p:cNvPr>
          <p:cNvSpPr txBox="1"/>
          <p:nvPr/>
        </p:nvSpPr>
        <p:spPr>
          <a:xfrm>
            <a:off x="2567339" y="1325563"/>
            <a:ext cx="4361936" cy="646331"/>
          </a:xfrm>
          <a:prstGeom prst="rect">
            <a:avLst/>
          </a:prstGeom>
          <a:noFill/>
        </p:spPr>
        <p:txBody>
          <a:bodyPr wrap="square" rtlCol="0">
            <a:spAutoFit/>
          </a:bodyPr>
          <a:lstStyle/>
          <a:p>
            <a:pPr algn="ctr"/>
            <a:r>
              <a:rPr lang="en-US"/>
              <a:t>Long-established cancer screening recommendations</a:t>
            </a:r>
          </a:p>
        </p:txBody>
      </p:sp>
      <p:sp>
        <p:nvSpPr>
          <p:cNvPr id="10" name="TextBox 9">
            <a:extLst>
              <a:ext uri="{FF2B5EF4-FFF2-40B4-BE49-F238E27FC236}">
                <a16:creationId xmlns:a16="http://schemas.microsoft.com/office/drawing/2014/main" id="{42674BD0-47E2-F41D-E76C-122079048967}"/>
              </a:ext>
            </a:extLst>
          </p:cNvPr>
          <p:cNvSpPr txBox="1"/>
          <p:nvPr/>
        </p:nvSpPr>
        <p:spPr>
          <a:xfrm>
            <a:off x="8675024" y="6492875"/>
            <a:ext cx="3516976" cy="369332"/>
          </a:xfrm>
          <a:prstGeom prst="rect">
            <a:avLst/>
          </a:prstGeom>
          <a:noFill/>
        </p:spPr>
        <p:txBody>
          <a:bodyPr wrap="square" rtlCol="0">
            <a:spAutoFit/>
          </a:bodyPr>
          <a:lstStyle/>
          <a:p>
            <a:pPr algn="r"/>
            <a:r>
              <a:rPr lang="en-US"/>
              <a:t>NCI SEER Data (2004 - 2022)</a:t>
            </a:r>
          </a:p>
        </p:txBody>
      </p:sp>
      <p:graphicFrame>
        <p:nvGraphicFramePr>
          <p:cNvPr id="3" name="Chart 2">
            <a:extLst>
              <a:ext uri="{FF2B5EF4-FFF2-40B4-BE49-F238E27FC236}">
                <a16:creationId xmlns:a16="http://schemas.microsoft.com/office/drawing/2014/main" id="{7D3CBF48-FD75-E3B2-DB6F-FF90CBCD85E4}"/>
              </a:ext>
            </a:extLst>
          </p:cNvPr>
          <p:cNvGraphicFramePr>
            <a:graphicFrameLocks/>
          </p:cNvGraphicFramePr>
          <p:nvPr/>
        </p:nvGraphicFramePr>
        <p:xfrm>
          <a:off x="8070574" y="1971894"/>
          <a:ext cx="3791912" cy="3819802"/>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489395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076B5A-C604-A8D1-F0B1-B511D74B1F30}"/>
              </a:ext>
            </a:extLst>
          </p:cNvPr>
          <p:cNvSpPr>
            <a:spLocks noGrp="1"/>
          </p:cNvSpPr>
          <p:nvPr>
            <p:ph idx="1"/>
          </p:nvPr>
        </p:nvSpPr>
        <p:spPr/>
        <p:txBody>
          <a:bodyPr/>
          <a:lstStyle/>
          <a:p>
            <a:endParaRPr lang="en-US"/>
          </a:p>
          <a:p>
            <a:endParaRPr lang="en-US"/>
          </a:p>
          <a:p>
            <a:endParaRPr lang="en-US"/>
          </a:p>
          <a:p>
            <a:pPr marL="0" indent="0">
              <a:buNone/>
            </a:pPr>
            <a:endParaRPr lang="en-US"/>
          </a:p>
        </p:txBody>
      </p:sp>
      <p:pic>
        <p:nvPicPr>
          <p:cNvPr id="4098" name="Picture 2">
            <a:extLst>
              <a:ext uri="{FF2B5EF4-FFF2-40B4-BE49-F238E27FC236}">
                <a16:creationId xmlns:a16="http://schemas.microsoft.com/office/drawing/2014/main" id="{7A605B98-F28C-4D52-DB38-0E178F198F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99607" y="0"/>
            <a:ext cx="4259263" cy="685800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E96AE074-0256-9880-C7EF-3927895AC8A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4164" y="402238"/>
            <a:ext cx="6170373" cy="25768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38037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8B572-4DC8-1F0E-64F8-E1E1DB628165}"/>
              </a:ext>
            </a:extLst>
          </p:cNvPr>
          <p:cNvSpPr>
            <a:spLocks noGrp="1"/>
          </p:cNvSpPr>
          <p:nvPr>
            <p:ph type="title"/>
          </p:nvPr>
        </p:nvSpPr>
        <p:spPr>
          <a:xfrm>
            <a:off x="682030" y="126440"/>
            <a:ext cx="10827940" cy="661856"/>
          </a:xfrm>
        </p:spPr>
        <p:txBody>
          <a:bodyPr>
            <a:normAutofit fontScale="90000"/>
          </a:bodyPr>
          <a:lstStyle/>
          <a:p>
            <a:r>
              <a:rPr lang="en-US" b="1"/>
              <a:t>Detection of early-stage lung cancer is increasing</a:t>
            </a:r>
          </a:p>
        </p:txBody>
      </p:sp>
      <p:pic>
        <p:nvPicPr>
          <p:cNvPr id="4" name="Picture 3">
            <a:extLst>
              <a:ext uri="{FF2B5EF4-FFF2-40B4-BE49-F238E27FC236}">
                <a16:creationId xmlns:a16="http://schemas.microsoft.com/office/drawing/2014/main" id="{C9149920-7AF7-1FE6-F10F-007B8EA8968C}"/>
              </a:ext>
            </a:extLst>
          </p:cNvPr>
          <p:cNvPicPr>
            <a:picLocks noChangeAspect="1"/>
          </p:cNvPicPr>
          <p:nvPr/>
        </p:nvPicPr>
        <p:blipFill>
          <a:blip r:embed="rId3"/>
          <a:stretch>
            <a:fillRect/>
          </a:stretch>
        </p:blipFill>
        <p:spPr>
          <a:xfrm>
            <a:off x="6573161" y="1624062"/>
            <a:ext cx="5483724" cy="3721100"/>
          </a:xfrm>
          <a:prstGeom prst="rect">
            <a:avLst/>
          </a:prstGeom>
        </p:spPr>
      </p:pic>
      <p:sp>
        <p:nvSpPr>
          <p:cNvPr id="6" name="TextBox 5">
            <a:extLst>
              <a:ext uri="{FF2B5EF4-FFF2-40B4-BE49-F238E27FC236}">
                <a16:creationId xmlns:a16="http://schemas.microsoft.com/office/drawing/2014/main" id="{9B7BB3DB-E4E2-7094-8A96-A0DF26CF79F8}"/>
              </a:ext>
            </a:extLst>
          </p:cNvPr>
          <p:cNvSpPr txBox="1"/>
          <p:nvPr/>
        </p:nvSpPr>
        <p:spPr>
          <a:xfrm>
            <a:off x="7607643" y="5543549"/>
            <a:ext cx="4584357" cy="369332"/>
          </a:xfrm>
          <a:prstGeom prst="rect">
            <a:avLst/>
          </a:prstGeom>
          <a:noFill/>
        </p:spPr>
        <p:txBody>
          <a:bodyPr wrap="square" rtlCol="0">
            <a:spAutoFit/>
          </a:bodyPr>
          <a:lstStyle/>
          <a:p>
            <a:pPr algn="r"/>
            <a:r>
              <a:rPr lang="en-US"/>
              <a:t>Silvestri et al.  Chest.  2023</a:t>
            </a:r>
          </a:p>
        </p:txBody>
      </p:sp>
      <p:sp>
        <p:nvSpPr>
          <p:cNvPr id="9" name="TextBox 8">
            <a:extLst>
              <a:ext uri="{FF2B5EF4-FFF2-40B4-BE49-F238E27FC236}">
                <a16:creationId xmlns:a16="http://schemas.microsoft.com/office/drawing/2014/main" id="{CB82BE39-07CE-353B-5E95-53DEFC05FF48}"/>
              </a:ext>
            </a:extLst>
          </p:cNvPr>
          <p:cNvSpPr txBox="1"/>
          <p:nvPr/>
        </p:nvSpPr>
        <p:spPr>
          <a:xfrm>
            <a:off x="515921" y="1436030"/>
            <a:ext cx="4953931" cy="369332"/>
          </a:xfrm>
          <a:prstGeom prst="rect">
            <a:avLst/>
          </a:prstGeom>
          <a:noFill/>
        </p:spPr>
        <p:txBody>
          <a:bodyPr wrap="square" rtlCol="0">
            <a:spAutoFit/>
          </a:bodyPr>
          <a:lstStyle/>
          <a:p>
            <a:pPr algn="ctr"/>
            <a:r>
              <a:rPr lang="en-US" b="1"/>
              <a:t>Fraction of eligible individuals screened</a:t>
            </a:r>
          </a:p>
        </p:txBody>
      </p:sp>
      <p:sp>
        <p:nvSpPr>
          <p:cNvPr id="10" name="TextBox 9">
            <a:extLst>
              <a:ext uri="{FF2B5EF4-FFF2-40B4-BE49-F238E27FC236}">
                <a16:creationId xmlns:a16="http://schemas.microsoft.com/office/drawing/2014/main" id="{8C1B3AD9-E613-740D-337D-A57487375022}"/>
              </a:ext>
            </a:extLst>
          </p:cNvPr>
          <p:cNvSpPr txBox="1"/>
          <p:nvPr/>
        </p:nvSpPr>
        <p:spPr>
          <a:xfrm>
            <a:off x="1424573" y="5571084"/>
            <a:ext cx="4584357" cy="369332"/>
          </a:xfrm>
          <a:prstGeom prst="rect">
            <a:avLst/>
          </a:prstGeom>
          <a:noFill/>
        </p:spPr>
        <p:txBody>
          <a:bodyPr wrap="square" rtlCol="0">
            <a:spAutoFit/>
          </a:bodyPr>
          <a:lstStyle/>
          <a:p>
            <a:pPr algn="r"/>
            <a:r>
              <a:rPr lang="en-US"/>
              <a:t>Fedewa et al.  JNCI.  2021</a:t>
            </a:r>
          </a:p>
        </p:txBody>
      </p:sp>
      <p:sp>
        <p:nvSpPr>
          <p:cNvPr id="12" name="TextBox 11">
            <a:extLst>
              <a:ext uri="{FF2B5EF4-FFF2-40B4-BE49-F238E27FC236}">
                <a16:creationId xmlns:a16="http://schemas.microsoft.com/office/drawing/2014/main" id="{25EAC38E-12B8-ECDC-75E3-DF11C0F3B9B9}"/>
              </a:ext>
            </a:extLst>
          </p:cNvPr>
          <p:cNvSpPr txBox="1"/>
          <p:nvPr/>
        </p:nvSpPr>
        <p:spPr>
          <a:xfrm>
            <a:off x="185349" y="6351373"/>
            <a:ext cx="11647163" cy="369332"/>
          </a:xfrm>
          <a:prstGeom prst="rect">
            <a:avLst/>
          </a:prstGeom>
          <a:noFill/>
        </p:spPr>
        <p:txBody>
          <a:bodyPr wrap="square" rtlCol="0">
            <a:spAutoFit/>
          </a:bodyPr>
          <a:lstStyle/>
          <a:p>
            <a:r>
              <a:rPr lang="en-US" b="1">
                <a:solidFill>
                  <a:schemeClr val="accent2">
                    <a:lumMod val="75000"/>
                  </a:schemeClr>
                </a:solidFill>
              </a:rPr>
              <a:t>Lung cancer treatment will increasingly be about treating early-stage disease and less about late-stage disease </a:t>
            </a:r>
          </a:p>
        </p:txBody>
      </p:sp>
      <p:pic>
        <p:nvPicPr>
          <p:cNvPr id="7" name="Picture 6">
            <a:extLst>
              <a:ext uri="{FF2B5EF4-FFF2-40B4-BE49-F238E27FC236}">
                <a16:creationId xmlns:a16="http://schemas.microsoft.com/office/drawing/2014/main" id="{1060146D-45F5-F5FC-C8B5-02AA73AD1A5A}"/>
              </a:ext>
            </a:extLst>
          </p:cNvPr>
          <p:cNvPicPr>
            <a:picLocks noChangeAspect="1"/>
          </p:cNvPicPr>
          <p:nvPr/>
        </p:nvPicPr>
        <p:blipFill>
          <a:blip r:embed="rId4"/>
          <a:stretch>
            <a:fillRect/>
          </a:stretch>
        </p:blipFill>
        <p:spPr>
          <a:xfrm>
            <a:off x="293930" y="1805362"/>
            <a:ext cx="5715000" cy="3721100"/>
          </a:xfrm>
          <a:prstGeom prst="rect">
            <a:avLst/>
          </a:prstGeom>
        </p:spPr>
      </p:pic>
      <p:sp>
        <p:nvSpPr>
          <p:cNvPr id="13" name="Rectangle 12">
            <a:extLst>
              <a:ext uri="{FF2B5EF4-FFF2-40B4-BE49-F238E27FC236}">
                <a16:creationId xmlns:a16="http://schemas.microsoft.com/office/drawing/2014/main" id="{34B499DD-5F15-50DE-5D80-8B6251F60C46}"/>
              </a:ext>
            </a:extLst>
          </p:cNvPr>
          <p:cNvSpPr/>
          <p:nvPr/>
        </p:nvSpPr>
        <p:spPr>
          <a:xfrm>
            <a:off x="6387548" y="1338470"/>
            <a:ext cx="516835" cy="66185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375057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92D58-A1D1-F6CA-C2F5-581A54874CB2}"/>
              </a:ext>
            </a:extLst>
          </p:cNvPr>
          <p:cNvSpPr>
            <a:spLocks noGrp="1"/>
          </p:cNvSpPr>
          <p:nvPr>
            <p:ph type="title"/>
          </p:nvPr>
        </p:nvSpPr>
        <p:spPr>
          <a:xfrm>
            <a:off x="3766930" y="100082"/>
            <a:ext cx="5416826" cy="721553"/>
          </a:xfrm>
        </p:spPr>
        <p:txBody>
          <a:bodyPr>
            <a:normAutofit/>
          </a:bodyPr>
          <a:lstStyle/>
          <a:p>
            <a:r>
              <a:rPr lang="en-US" b="1"/>
              <a:t>Central Hypotheses</a:t>
            </a:r>
          </a:p>
        </p:txBody>
      </p:sp>
      <p:sp>
        <p:nvSpPr>
          <p:cNvPr id="3" name="Content Placeholder 2">
            <a:extLst>
              <a:ext uri="{FF2B5EF4-FFF2-40B4-BE49-F238E27FC236}">
                <a16:creationId xmlns:a16="http://schemas.microsoft.com/office/drawing/2014/main" id="{2F64CA01-C77C-0EA5-78A3-982A3839D306}"/>
              </a:ext>
            </a:extLst>
          </p:cNvPr>
          <p:cNvSpPr>
            <a:spLocks noGrp="1"/>
          </p:cNvSpPr>
          <p:nvPr>
            <p:ph idx="1"/>
          </p:nvPr>
        </p:nvSpPr>
        <p:spPr>
          <a:xfrm>
            <a:off x="838200" y="1107557"/>
            <a:ext cx="10515600" cy="2960860"/>
          </a:xfrm>
        </p:spPr>
        <p:txBody>
          <a:bodyPr>
            <a:normAutofit/>
          </a:bodyPr>
          <a:lstStyle/>
          <a:p>
            <a:r>
              <a:rPr lang="en-US"/>
              <a:t>Lung cancer screening has created an opportunity to decrease the burden of lung cancer by optimizing the treatment of early-stage disease:  </a:t>
            </a:r>
            <a:r>
              <a:rPr lang="en-US" b="1">
                <a:solidFill>
                  <a:schemeClr val="accent2"/>
                </a:solidFill>
              </a:rPr>
              <a:t>there is an opportunity to maximize survivorship while minimizing negative effects of treatment.</a:t>
            </a:r>
          </a:p>
          <a:p>
            <a:r>
              <a:rPr lang="en-US"/>
              <a:t>Pathologic features of lung cancer are associated with lung cancer aggressiveness and may be a better proxy of outcome than survival</a:t>
            </a:r>
          </a:p>
        </p:txBody>
      </p:sp>
      <p:pic>
        <p:nvPicPr>
          <p:cNvPr id="6" name="Picture 5">
            <a:extLst>
              <a:ext uri="{FF2B5EF4-FFF2-40B4-BE49-F238E27FC236}">
                <a16:creationId xmlns:a16="http://schemas.microsoft.com/office/drawing/2014/main" id="{BE24FD2A-78D5-A435-9728-C1D8D0959FE2}"/>
              </a:ext>
            </a:extLst>
          </p:cNvPr>
          <p:cNvPicPr>
            <a:picLocks noChangeAspect="1"/>
          </p:cNvPicPr>
          <p:nvPr/>
        </p:nvPicPr>
        <p:blipFill>
          <a:blip r:embed="rId3"/>
          <a:stretch>
            <a:fillRect/>
          </a:stretch>
        </p:blipFill>
        <p:spPr>
          <a:xfrm>
            <a:off x="2809407" y="3729521"/>
            <a:ext cx="7108867" cy="2982956"/>
          </a:xfrm>
          <a:prstGeom prst="rect">
            <a:avLst/>
          </a:prstGeom>
        </p:spPr>
      </p:pic>
      <p:sp>
        <p:nvSpPr>
          <p:cNvPr id="8" name="TextBox 7">
            <a:extLst>
              <a:ext uri="{FF2B5EF4-FFF2-40B4-BE49-F238E27FC236}">
                <a16:creationId xmlns:a16="http://schemas.microsoft.com/office/drawing/2014/main" id="{DA60B891-D94C-E99D-959F-59077A379F21}"/>
              </a:ext>
            </a:extLst>
          </p:cNvPr>
          <p:cNvSpPr txBox="1"/>
          <p:nvPr/>
        </p:nvSpPr>
        <p:spPr>
          <a:xfrm>
            <a:off x="7485958" y="4697779"/>
            <a:ext cx="494675" cy="646331"/>
          </a:xfrm>
          <a:prstGeom prst="rect">
            <a:avLst/>
          </a:prstGeom>
          <a:noFill/>
        </p:spPr>
        <p:txBody>
          <a:bodyPr wrap="square" rtlCol="0">
            <a:spAutoFit/>
          </a:bodyPr>
          <a:lstStyle/>
          <a:p>
            <a:r>
              <a:rPr lang="en-US" sz="3600" b="1">
                <a:solidFill>
                  <a:srgbClr val="FF0000"/>
                </a:solidFill>
              </a:rPr>
              <a:t>?</a:t>
            </a:r>
          </a:p>
        </p:txBody>
      </p:sp>
      <p:sp>
        <p:nvSpPr>
          <p:cNvPr id="9" name="TextBox 8">
            <a:extLst>
              <a:ext uri="{FF2B5EF4-FFF2-40B4-BE49-F238E27FC236}">
                <a16:creationId xmlns:a16="http://schemas.microsoft.com/office/drawing/2014/main" id="{86EDD799-80AC-B726-A493-D921D30A3E25}"/>
              </a:ext>
            </a:extLst>
          </p:cNvPr>
          <p:cNvSpPr txBox="1"/>
          <p:nvPr/>
        </p:nvSpPr>
        <p:spPr>
          <a:xfrm>
            <a:off x="10023749" y="4697779"/>
            <a:ext cx="494675" cy="646331"/>
          </a:xfrm>
          <a:prstGeom prst="rect">
            <a:avLst/>
          </a:prstGeom>
          <a:noFill/>
        </p:spPr>
        <p:txBody>
          <a:bodyPr wrap="square" rtlCol="0">
            <a:spAutoFit/>
          </a:bodyPr>
          <a:lstStyle/>
          <a:p>
            <a:r>
              <a:rPr lang="en-US" sz="3600" b="1">
                <a:solidFill>
                  <a:srgbClr val="FF0000"/>
                </a:solidFill>
              </a:rPr>
              <a:t>?</a:t>
            </a:r>
          </a:p>
        </p:txBody>
      </p:sp>
    </p:spTree>
    <p:extLst>
      <p:ext uri="{BB962C8B-B14F-4D97-AF65-F5344CB8AC3E}">
        <p14:creationId xmlns:p14="http://schemas.microsoft.com/office/powerpoint/2010/main" val="29533391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Graphical user interface, chart, application, table, Excel&#10;&#10;Description automatically generated">
            <a:extLst>
              <a:ext uri="{FF2B5EF4-FFF2-40B4-BE49-F238E27FC236}">
                <a16:creationId xmlns:a16="http://schemas.microsoft.com/office/drawing/2014/main" id="{76047C80-C965-4908-FC2C-EEC3D057AC74}"/>
              </a:ext>
            </a:extLst>
          </p:cNvPr>
          <p:cNvPicPr>
            <a:picLocks noChangeAspect="1"/>
          </p:cNvPicPr>
          <p:nvPr/>
        </p:nvPicPr>
        <p:blipFill>
          <a:blip r:embed="rId3"/>
          <a:srcRect b="67214"/>
          <a:stretch>
            <a:fillRect/>
          </a:stretch>
        </p:blipFill>
        <p:spPr>
          <a:xfrm>
            <a:off x="6436742" y="1050874"/>
            <a:ext cx="5539298" cy="4121043"/>
          </a:xfrm>
          <a:prstGeom prst="rect">
            <a:avLst/>
          </a:prstGeom>
        </p:spPr>
      </p:pic>
      <p:pic>
        <p:nvPicPr>
          <p:cNvPr id="5" name="Picture 4">
            <a:extLst>
              <a:ext uri="{FF2B5EF4-FFF2-40B4-BE49-F238E27FC236}">
                <a16:creationId xmlns:a16="http://schemas.microsoft.com/office/drawing/2014/main" id="{2FEE96DB-EE22-ADB8-CDEF-5E3EE3998467}"/>
              </a:ext>
            </a:extLst>
          </p:cNvPr>
          <p:cNvPicPr>
            <a:picLocks noChangeAspect="1"/>
          </p:cNvPicPr>
          <p:nvPr/>
        </p:nvPicPr>
        <p:blipFill>
          <a:blip r:embed="rId4"/>
          <a:stretch>
            <a:fillRect/>
          </a:stretch>
        </p:blipFill>
        <p:spPr>
          <a:xfrm>
            <a:off x="202668" y="1563709"/>
            <a:ext cx="5893332" cy="3323085"/>
          </a:xfrm>
          <a:prstGeom prst="rect">
            <a:avLst/>
          </a:prstGeom>
        </p:spPr>
      </p:pic>
      <p:sp>
        <p:nvSpPr>
          <p:cNvPr id="7" name="TextBox 6">
            <a:extLst>
              <a:ext uri="{FF2B5EF4-FFF2-40B4-BE49-F238E27FC236}">
                <a16:creationId xmlns:a16="http://schemas.microsoft.com/office/drawing/2014/main" id="{C2AE3282-4E1F-8154-B85C-C99A00863C24}"/>
              </a:ext>
            </a:extLst>
          </p:cNvPr>
          <p:cNvSpPr txBox="1"/>
          <p:nvPr/>
        </p:nvSpPr>
        <p:spPr>
          <a:xfrm>
            <a:off x="2774861" y="4848751"/>
            <a:ext cx="3829851" cy="646331"/>
          </a:xfrm>
          <a:prstGeom prst="rect">
            <a:avLst/>
          </a:prstGeom>
          <a:noFill/>
        </p:spPr>
        <p:txBody>
          <a:bodyPr wrap="square">
            <a:spAutoFit/>
          </a:bodyPr>
          <a:lstStyle/>
          <a:p>
            <a:pPr marL="0" marR="0" algn="ctr">
              <a:spcBef>
                <a:spcPts val="0"/>
              </a:spcBef>
              <a:spcAft>
                <a:spcPts val="0"/>
              </a:spcAft>
            </a:pPr>
            <a:r>
              <a:rPr lang="en-US" sz="1800">
                <a:effectLst/>
                <a:latin typeface="Arial" panose="020B0604020202020204" pitchFamily="34" charset="0"/>
                <a:ea typeface="Arial" panose="020B0604020202020204" pitchFamily="34" charset="0"/>
                <a:cs typeface="Arial" panose="020B0604020202020204" pitchFamily="34" charset="0"/>
              </a:rPr>
              <a:t>internal and external elastic lamina in black and collagen in blue</a:t>
            </a:r>
            <a:endParaRPr lang="en-US" sz="3600">
              <a:effectLst/>
              <a:latin typeface="Arial" panose="020B0604020202020204" pitchFamily="34" charset="0"/>
              <a:ea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C0515336-961F-21B4-BD7F-15E9EF73E6E3}"/>
              </a:ext>
            </a:extLst>
          </p:cNvPr>
          <p:cNvSpPr txBox="1"/>
          <p:nvPr/>
        </p:nvSpPr>
        <p:spPr>
          <a:xfrm>
            <a:off x="639112" y="14909"/>
            <a:ext cx="11078817" cy="523220"/>
          </a:xfrm>
          <a:prstGeom prst="rect">
            <a:avLst/>
          </a:prstGeom>
          <a:noFill/>
        </p:spPr>
        <p:txBody>
          <a:bodyPr wrap="square" rtlCol="0">
            <a:spAutoFit/>
          </a:bodyPr>
          <a:lstStyle/>
          <a:p>
            <a:r>
              <a:rPr lang="en-US" sz="2800" b="1"/>
              <a:t>Microscopic vascular Invasion is an Aggressive Pathologic Feature</a:t>
            </a:r>
          </a:p>
        </p:txBody>
      </p:sp>
      <p:sp>
        <p:nvSpPr>
          <p:cNvPr id="8" name="TextBox 7">
            <a:extLst>
              <a:ext uri="{FF2B5EF4-FFF2-40B4-BE49-F238E27FC236}">
                <a16:creationId xmlns:a16="http://schemas.microsoft.com/office/drawing/2014/main" id="{720AE8F5-5704-456D-DF6A-200DA7E8886C}"/>
              </a:ext>
            </a:extLst>
          </p:cNvPr>
          <p:cNvSpPr txBox="1"/>
          <p:nvPr/>
        </p:nvSpPr>
        <p:spPr>
          <a:xfrm>
            <a:off x="7607643" y="5437794"/>
            <a:ext cx="4584357" cy="369332"/>
          </a:xfrm>
          <a:prstGeom prst="rect">
            <a:avLst/>
          </a:prstGeom>
          <a:noFill/>
        </p:spPr>
        <p:txBody>
          <a:bodyPr wrap="square" rtlCol="0">
            <a:spAutoFit/>
          </a:bodyPr>
          <a:lstStyle/>
          <a:p>
            <a:pPr algn="r"/>
            <a:r>
              <a:rPr lang="en-US" err="1"/>
              <a:t>Yambayev</a:t>
            </a:r>
            <a:r>
              <a:rPr lang="en-US"/>
              <a:t> et al. </a:t>
            </a:r>
            <a:r>
              <a:rPr lang="en-US" i="1"/>
              <a:t>Lung Cancer.  </a:t>
            </a:r>
            <a:r>
              <a:rPr lang="en-US"/>
              <a:t>2022</a:t>
            </a:r>
          </a:p>
        </p:txBody>
      </p:sp>
      <p:sp>
        <p:nvSpPr>
          <p:cNvPr id="9" name="TextBox 8">
            <a:extLst>
              <a:ext uri="{FF2B5EF4-FFF2-40B4-BE49-F238E27FC236}">
                <a16:creationId xmlns:a16="http://schemas.microsoft.com/office/drawing/2014/main" id="{A9FC58D7-1FE9-55CB-DF37-7A1CEACE1511}"/>
              </a:ext>
            </a:extLst>
          </p:cNvPr>
          <p:cNvSpPr txBox="1"/>
          <p:nvPr/>
        </p:nvSpPr>
        <p:spPr>
          <a:xfrm>
            <a:off x="890519" y="1693890"/>
            <a:ext cx="511679" cy="523220"/>
          </a:xfrm>
          <a:prstGeom prst="rect">
            <a:avLst/>
          </a:prstGeom>
          <a:noFill/>
        </p:spPr>
        <p:txBody>
          <a:bodyPr wrap="none" rtlCol="0">
            <a:spAutoFit/>
          </a:bodyPr>
          <a:lstStyle/>
          <a:p>
            <a:r>
              <a:rPr lang="en-US" sz="2800" b="1"/>
              <a:t>VI</a:t>
            </a:r>
          </a:p>
        </p:txBody>
      </p:sp>
      <p:sp>
        <p:nvSpPr>
          <p:cNvPr id="10" name="TextBox 9">
            <a:extLst>
              <a:ext uri="{FF2B5EF4-FFF2-40B4-BE49-F238E27FC236}">
                <a16:creationId xmlns:a16="http://schemas.microsoft.com/office/drawing/2014/main" id="{733438FF-76BA-B7CD-A6FF-937084D61E9F}"/>
              </a:ext>
            </a:extLst>
          </p:cNvPr>
          <p:cNvSpPr txBox="1"/>
          <p:nvPr/>
        </p:nvSpPr>
        <p:spPr>
          <a:xfrm>
            <a:off x="4010971" y="1563709"/>
            <a:ext cx="511679" cy="523220"/>
          </a:xfrm>
          <a:prstGeom prst="rect">
            <a:avLst/>
          </a:prstGeom>
          <a:noFill/>
        </p:spPr>
        <p:txBody>
          <a:bodyPr wrap="none" rtlCol="0">
            <a:spAutoFit/>
          </a:bodyPr>
          <a:lstStyle/>
          <a:p>
            <a:r>
              <a:rPr lang="en-US" sz="2800" b="1"/>
              <a:t>VI</a:t>
            </a:r>
          </a:p>
        </p:txBody>
      </p:sp>
      <p:sp>
        <p:nvSpPr>
          <p:cNvPr id="11" name="TextBox 10">
            <a:extLst>
              <a:ext uri="{FF2B5EF4-FFF2-40B4-BE49-F238E27FC236}">
                <a16:creationId xmlns:a16="http://schemas.microsoft.com/office/drawing/2014/main" id="{2238D8E5-FAA0-A149-A6D7-5273276A8E8A}"/>
              </a:ext>
            </a:extLst>
          </p:cNvPr>
          <p:cNvSpPr txBox="1"/>
          <p:nvPr/>
        </p:nvSpPr>
        <p:spPr>
          <a:xfrm>
            <a:off x="1760256" y="3668842"/>
            <a:ext cx="1320233" cy="369332"/>
          </a:xfrm>
          <a:prstGeom prst="rect">
            <a:avLst/>
          </a:prstGeom>
          <a:noFill/>
        </p:spPr>
        <p:txBody>
          <a:bodyPr wrap="none" rtlCol="0">
            <a:spAutoFit/>
          </a:bodyPr>
          <a:lstStyle/>
          <a:p>
            <a:r>
              <a:rPr lang="en-US" b="1"/>
              <a:t>bronchiole</a:t>
            </a:r>
          </a:p>
        </p:txBody>
      </p:sp>
      <p:sp>
        <p:nvSpPr>
          <p:cNvPr id="12" name="TextBox 11">
            <a:extLst>
              <a:ext uri="{FF2B5EF4-FFF2-40B4-BE49-F238E27FC236}">
                <a16:creationId xmlns:a16="http://schemas.microsoft.com/office/drawing/2014/main" id="{3AB6FF45-E667-157D-A545-526A73BD327D}"/>
              </a:ext>
            </a:extLst>
          </p:cNvPr>
          <p:cNvSpPr txBox="1"/>
          <p:nvPr/>
        </p:nvSpPr>
        <p:spPr>
          <a:xfrm>
            <a:off x="4522650" y="4401740"/>
            <a:ext cx="1320233" cy="369332"/>
          </a:xfrm>
          <a:prstGeom prst="rect">
            <a:avLst/>
          </a:prstGeom>
          <a:noFill/>
        </p:spPr>
        <p:txBody>
          <a:bodyPr wrap="none" rtlCol="0">
            <a:spAutoFit/>
          </a:bodyPr>
          <a:lstStyle/>
          <a:p>
            <a:r>
              <a:rPr lang="en-US" b="1"/>
              <a:t>bronchiole</a:t>
            </a:r>
          </a:p>
        </p:txBody>
      </p:sp>
      <p:sp>
        <p:nvSpPr>
          <p:cNvPr id="13" name="TextBox 12">
            <a:extLst>
              <a:ext uri="{FF2B5EF4-FFF2-40B4-BE49-F238E27FC236}">
                <a16:creationId xmlns:a16="http://schemas.microsoft.com/office/drawing/2014/main" id="{607D9826-B214-6EE5-619C-548FF726FEEE}"/>
              </a:ext>
            </a:extLst>
          </p:cNvPr>
          <p:cNvSpPr txBox="1"/>
          <p:nvPr/>
        </p:nvSpPr>
        <p:spPr>
          <a:xfrm>
            <a:off x="1313012" y="1102044"/>
            <a:ext cx="793807" cy="461665"/>
          </a:xfrm>
          <a:prstGeom prst="rect">
            <a:avLst/>
          </a:prstGeom>
          <a:noFill/>
        </p:spPr>
        <p:txBody>
          <a:bodyPr wrap="none" rtlCol="0">
            <a:spAutoFit/>
          </a:bodyPr>
          <a:lstStyle/>
          <a:p>
            <a:r>
              <a:rPr lang="en-US" sz="2400" b="1"/>
              <a:t>H&amp;E</a:t>
            </a:r>
          </a:p>
        </p:txBody>
      </p:sp>
      <p:sp>
        <p:nvSpPr>
          <p:cNvPr id="14" name="TextBox 13">
            <a:extLst>
              <a:ext uri="{FF2B5EF4-FFF2-40B4-BE49-F238E27FC236}">
                <a16:creationId xmlns:a16="http://schemas.microsoft.com/office/drawing/2014/main" id="{3A0AF818-B4A7-CEC6-6103-A81DBD57ADDF}"/>
              </a:ext>
            </a:extLst>
          </p:cNvPr>
          <p:cNvSpPr txBox="1"/>
          <p:nvPr/>
        </p:nvSpPr>
        <p:spPr>
          <a:xfrm>
            <a:off x="2989386" y="1143079"/>
            <a:ext cx="3400803" cy="461665"/>
          </a:xfrm>
          <a:prstGeom prst="rect">
            <a:avLst/>
          </a:prstGeom>
          <a:noFill/>
        </p:spPr>
        <p:txBody>
          <a:bodyPr wrap="none" rtlCol="0">
            <a:spAutoFit/>
          </a:bodyPr>
          <a:lstStyle/>
          <a:p>
            <a:r>
              <a:rPr lang="en-US" sz="2400" b="1"/>
              <a:t>Trichrome Elastic Stain</a:t>
            </a:r>
          </a:p>
        </p:txBody>
      </p:sp>
      <p:sp>
        <p:nvSpPr>
          <p:cNvPr id="15" name="Rectangle 14">
            <a:extLst>
              <a:ext uri="{FF2B5EF4-FFF2-40B4-BE49-F238E27FC236}">
                <a16:creationId xmlns:a16="http://schemas.microsoft.com/office/drawing/2014/main" id="{80D1A8F8-71E7-F654-11BF-B81E63C7B04C}"/>
              </a:ext>
            </a:extLst>
          </p:cNvPr>
          <p:cNvSpPr/>
          <p:nvPr/>
        </p:nvSpPr>
        <p:spPr>
          <a:xfrm>
            <a:off x="6436742" y="1050874"/>
            <a:ext cx="428753" cy="55387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48DAA4B0-FD5B-AD89-03AB-0C0084677E37}"/>
              </a:ext>
            </a:extLst>
          </p:cNvPr>
          <p:cNvSpPr txBox="1"/>
          <p:nvPr/>
        </p:nvSpPr>
        <p:spPr>
          <a:xfrm>
            <a:off x="11206250" y="2832332"/>
            <a:ext cx="511679" cy="523220"/>
          </a:xfrm>
          <a:prstGeom prst="rect">
            <a:avLst/>
          </a:prstGeom>
          <a:noFill/>
        </p:spPr>
        <p:txBody>
          <a:bodyPr wrap="none" rtlCol="0">
            <a:spAutoFit/>
          </a:bodyPr>
          <a:lstStyle/>
          <a:p>
            <a:r>
              <a:rPr lang="en-US" sz="2800" b="1"/>
              <a:t>VI</a:t>
            </a:r>
          </a:p>
        </p:txBody>
      </p:sp>
      <p:sp>
        <p:nvSpPr>
          <p:cNvPr id="17" name="Up Arrow 16">
            <a:extLst>
              <a:ext uri="{FF2B5EF4-FFF2-40B4-BE49-F238E27FC236}">
                <a16:creationId xmlns:a16="http://schemas.microsoft.com/office/drawing/2014/main" id="{B7DEBC97-35F8-0638-29E0-AC7F4F170D9D}"/>
              </a:ext>
            </a:extLst>
          </p:cNvPr>
          <p:cNvSpPr/>
          <p:nvPr/>
        </p:nvSpPr>
        <p:spPr>
          <a:xfrm flipH="1">
            <a:off x="11360024" y="2611427"/>
            <a:ext cx="182401" cy="296665"/>
          </a:xfrm>
          <a:prstGeom prst="upArrow">
            <a:avLst/>
          </a:prstGeom>
          <a:solidFill>
            <a:srgbClr val="FFFF00"/>
          </a:solidFill>
          <a:ln>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89D5EBD4-E32C-5A82-347C-E356A8E42FC6}"/>
              </a:ext>
            </a:extLst>
          </p:cNvPr>
          <p:cNvSpPr txBox="1"/>
          <p:nvPr/>
        </p:nvSpPr>
        <p:spPr>
          <a:xfrm>
            <a:off x="691731" y="5645655"/>
            <a:ext cx="5906655" cy="369332"/>
          </a:xfrm>
          <a:prstGeom prst="rect">
            <a:avLst/>
          </a:prstGeom>
          <a:noFill/>
        </p:spPr>
        <p:txBody>
          <a:bodyPr wrap="square" rtlCol="0">
            <a:spAutoFit/>
          </a:bodyPr>
          <a:lstStyle/>
          <a:p>
            <a:r>
              <a:rPr lang="en-US" b="1"/>
              <a:t>VI Foci are very small (&lt;1mm), tumor is usually ~1.6cm</a:t>
            </a:r>
          </a:p>
        </p:txBody>
      </p:sp>
    </p:spTree>
    <p:extLst>
      <p:ext uri="{BB962C8B-B14F-4D97-AF65-F5344CB8AC3E}">
        <p14:creationId xmlns:p14="http://schemas.microsoft.com/office/powerpoint/2010/main" val="2347420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71A95-B2C0-AB1E-EECA-1C1A6ACD3E8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8958181-F16C-49F7-A97A-F5EB7479C181}"/>
              </a:ext>
            </a:extLst>
          </p:cNvPr>
          <p:cNvSpPr txBox="1"/>
          <p:nvPr/>
        </p:nvSpPr>
        <p:spPr>
          <a:xfrm>
            <a:off x="544644" y="25779"/>
            <a:ext cx="11431396" cy="615553"/>
          </a:xfrm>
          <a:prstGeom prst="rect">
            <a:avLst/>
          </a:prstGeom>
          <a:noFill/>
        </p:spPr>
        <p:txBody>
          <a:bodyPr wrap="square" rtlCol="0">
            <a:spAutoFit/>
          </a:bodyPr>
          <a:lstStyle/>
          <a:p>
            <a:r>
              <a:rPr lang="en-US" sz="3400" b="1"/>
              <a:t>Challenge 1:  Detect VI in H&amp;E tissues from lung tumors</a:t>
            </a:r>
          </a:p>
        </p:txBody>
      </p:sp>
      <p:pic>
        <p:nvPicPr>
          <p:cNvPr id="3" name="Picture 2">
            <a:extLst>
              <a:ext uri="{FF2B5EF4-FFF2-40B4-BE49-F238E27FC236}">
                <a16:creationId xmlns:a16="http://schemas.microsoft.com/office/drawing/2014/main" id="{9F94923F-0D86-0830-11B1-5A37870FBC4C}"/>
              </a:ext>
            </a:extLst>
          </p:cNvPr>
          <p:cNvPicPr>
            <a:picLocks noChangeAspect="1"/>
          </p:cNvPicPr>
          <p:nvPr/>
        </p:nvPicPr>
        <p:blipFill>
          <a:blip r:embed="rId3"/>
          <a:stretch>
            <a:fillRect/>
          </a:stretch>
        </p:blipFill>
        <p:spPr>
          <a:xfrm>
            <a:off x="706290" y="641332"/>
            <a:ext cx="3098800" cy="3409950"/>
          </a:xfrm>
          <a:prstGeom prst="rect">
            <a:avLst/>
          </a:prstGeom>
        </p:spPr>
      </p:pic>
      <p:sp>
        <p:nvSpPr>
          <p:cNvPr id="6" name="TextBox 5">
            <a:extLst>
              <a:ext uri="{FF2B5EF4-FFF2-40B4-BE49-F238E27FC236}">
                <a16:creationId xmlns:a16="http://schemas.microsoft.com/office/drawing/2014/main" id="{B4EE7599-8473-4EC0-A552-7322E160EC99}"/>
              </a:ext>
            </a:extLst>
          </p:cNvPr>
          <p:cNvSpPr txBox="1"/>
          <p:nvPr/>
        </p:nvSpPr>
        <p:spPr>
          <a:xfrm>
            <a:off x="865083" y="3869674"/>
            <a:ext cx="3225385" cy="1200329"/>
          </a:xfrm>
          <a:prstGeom prst="rect">
            <a:avLst/>
          </a:prstGeom>
          <a:noFill/>
        </p:spPr>
        <p:txBody>
          <a:bodyPr wrap="square" rtlCol="0">
            <a:spAutoFit/>
          </a:bodyPr>
          <a:lstStyle/>
          <a:p>
            <a:r>
              <a:rPr lang="en-US" b="1"/>
              <a:t>Hematoxylin: </a:t>
            </a:r>
            <a:r>
              <a:rPr lang="en-US"/>
              <a:t>stains nuclei blue/purple</a:t>
            </a:r>
          </a:p>
          <a:p>
            <a:r>
              <a:rPr lang="en-US" b="1"/>
              <a:t>Eosin: </a:t>
            </a:r>
            <a:r>
              <a:rPr lang="en-US"/>
              <a:t>stains cytoplasm and extracellular matrix pink</a:t>
            </a:r>
          </a:p>
        </p:txBody>
      </p:sp>
      <p:sp>
        <p:nvSpPr>
          <p:cNvPr id="18" name="TextBox 17">
            <a:extLst>
              <a:ext uri="{FF2B5EF4-FFF2-40B4-BE49-F238E27FC236}">
                <a16:creationId xmlns:a16="http://schemas.microsoft.com/office/drawing/2014/main" id="{06F083D3-21A1-E7C1-1DAD-562B3BD70328}"/>
              </a:ext>
            </a:extLst>
          </p:cNvPr>
          <p:cNvSpPr txBox="1"/>
          <p:nvPr/>
        </p:nvSpPr>
        <p:spPr>
          <a:xfrm>
            <a:off x="2688605" y="2070837"/>
            <a:ext cx="1259174" cy="369332"/>
          </a:xfrm>
          <a:prstGeom prst="rect">
            <a:avLst/>
          </a:prstGeom>
          <a:noFill/>
        </p:spPr>
        <p:txBody>
          <a:bodyPr wrap="square" rtlCol="0">
            <a:spAutoFit/>
          </a:bodyPr>
          <a:lstStyle/>
          <a:p>
            <a:r>
              <a:rPr lang="en-US" b="1"/>
              <a:t>H&amp;Es</a:t>
            </a:r>
          </a:p>
        </p:txBody>
      </p:sp>
      <p:sp>
        <p:nvSpPr>
          <p:cNvPr id="20" name="TextBox 19">
            <a:extLst>
              <a:ext uri="{FF2B5EF4-FFF2-40B4-BE49-F238E27FC236}">
                <a16:creationId xmlns:a16="http://schemas.microsoft.com/office/drawing/2014/main" id="{42F07D34-0840-ACA1-4466-B9D7E4DFD114}"/>
              </a:ext>
            </a:extLst>
          </p:cNvPr>
          <p:cNvSpPr txBox="1"/>
          <p:nvPr/>
        </p:nvSpPr>
        <p:spPr>
          <a:xfrm>
            <a:off x="666534" y="3166062"/>
            <a:ext cx="1587858" cy="646331"/>
          </a:xfrm>
          <a:prstGeom prst="rect">
            <a:avLst/>
          </a:prstGeom>
          <a:noFill/>
        </p:spPr>
        <p:txBody>
          <a:bodyPr wrap="square" rtlCol="0">
            <a:spAutoFit/>
          </a:bodyPr>
          <a:lstStyle/>
          <a:p>
            <a:pPr algn="ctr"/>
            <a:r>
              <a:rPr lang="en-US" b="1"/>
              <a:t>Tumor with or without VI</a:t>
            </a:r>
          </a:p>
        </p:txBody>
      </p:sp>
      <p:cxnSp>
        <p:nvCxnSpPr>
          <p:cNvPr id="22" name="Straight Arrow Connector 21">
            <a:extLst>
              <a:ext uri="{FF2B5EF4-FFF2-40B4-BE49-F238E27FC236}">
                <a16:creationId xmlns:a16="http://schemas.microsoft.com/office/drawing/2014/main" id="{C76C0232-8451-B2D4-D242-AD0D3B580F24}"/>
              </a:ext>
            </a:extLst>
          </p:cNvPr>
          <p:cNvCxnSpPr>
            <a:cxnSpLocks/>
          </p:cNvCxnSpPr>
          <p:nvPr/>
        </p:nvCxnSpPr>
        <p:spPr>
          <a:xfrm>
            <a:off x="3805090" y="2557670"/>
            <a:ext cx="226440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51A66C19-68F5-2F51-1446-4A1A9ED7F4AF}"/>
              </a:ext>
            </a:extLst>
          </p:cNvPr>
          <p:cNvSpPr txBox="1"/>
          <p:nvPr/>
        </p:nvSpPr>
        <p:spPr>
          <a:xfrm>
            <a:off x="3941731" y="1672280"/>
            <a:ext cx="1780358" cy="923330"/>
          </a:xfrm>
          <a:prstGeom prst="rect">
            <a:avLst/>
          </a:prstGeom>
          <a:noFill/>
        </p:spPr>
        <p:txBody>
          <a:bodyPr wrap="square" rtlCol="0">
            <a:spAutoFit/>
          </a:bodyPr>
          <a:lstStyle/>
          <a:p>
            <a:pPr algn="ctr"/>
            <a:r>
              <a:rPr lang="en-US" b="1"/>
              <a:t>Each H&amp;E is digitized at 20X</a:t>
            </a:r>
          </a:p>
          <a:p>
            <a:pPr algn="ctr"/>
            <a:r>
              <a:rPr lang="en-US" b="1"/>
              <a:t>(WSI)</a:t>
            </a:r>
          </a:p>
        </p:txBody>
      </p:sp>
      <p:sp>
        <p:nvSpPr>
          <p:cNvPr id="27" name="TextBox 26">
            <a:extLst>
              <a:ext uri="{FF2B5EF4-FFF2-40B4-BE49-F238E27FC236}">
                <a16:creationId xmlns:a16="http://schemas.microsoft.com/office/drawing/2014/main" id="{4C8C2EA9-0C3E-BB60-8688-1686AF437BE9}"/>
              </a:ext>
            </a:extLst>
          </p:cNvPr>
          <p:cNvSpPr txBox="1"/>
          <p:nvPr/>
        </p:nvSpPr>
        <p:spPr>
          <a:xfrm>
            <a:off x="3947779" y="2614952"/>
            <a:ext cx="1780358" cy="923330"/>
          </a:xfrm>
          <a:prstGeom prst="rect">
            <a:avLst/>
          </a:prstGeom>
          <a:noFill/>
        </p:spPr>
        <p:txBody>
          <a:bodyPr wrap="square" rtlCol="0">
            <a:spAutoFit/>
          </a:bodyPr>
          <a:lstStyle/>
          <a:p>
            <a:pPr algn="ctr"/>
            <a:r>
              <a:rPr lang="en-US" b="1"/>
              <a:t>Aperio slide scanner </a:t>
            </a:r>
          </a:p>
          <a:p>
            <a:pPr algn="ctr"/>
            <a:r>
              <a:rPr lang="en-US" b="1"/>
              <a:t>(.</a:t>
            </a:r>
            <a:r>
              <a:rPr lang="en-US" b="1" err="1"/>
              <a:t>svs</a:t>
            </a:r>
            <a:r>
              <a:rPr lang="en-US" b="1"/>
              <a:t> format)</a:t>
            </a:r>
          </a:p>
        </p:txBody>
      </p:sp>
      <p:sp>
        <p:nvSpPr>
          <p:cNvPr id="28" name="TextBox 27">
            <a:extLst>
              <a:ext uri="{FF2B5EF4-FFF2-40B4-BE49-F238E27FC236}">
                <a16:creationId xmlns:a16="http://schemas.microsoft.com/office/drawing/2014/main" id="{5DF21DD8-9698-27ED-30FF-56354BBFAA9C}"/>
              </a:ext>
            </a:extLst>
          </p:cNvPr>
          <p:cNvSpPr txBox="1"/>
          <p:nvPr/>
        </p:nvSpPr>
        <p:spPr>
          <a:xfrm>
            <a:off x="2077890" y="930727"/>
            <a:ext cx="2012578" cy="923330"/>
          </a:xfrm>
          <a:prstGeom prst="rect">
            <a:avLst/>
          </a:prstGeom>
          <a:noFill/>
        </p:spPr>
        <p:txBody>
          <a:bodyPr wrap="square" rtlCol="0">
            <a:spAutoFit/>
          </a:bodyPr>
          <a:lstStyle/>
          <a:p>
            <a:pPr algn="ctr"/>
            <a:r>
              <a:rPr lang="en-US" b="1"/>
              <a:t>Stage I Lung Adenocarcinoma Patients</a:t>
            </a:r>
          </a:p>
        </p:txBody>
      </p:sp>
      <p:pic>
        <p:nvPicPr>
          <p:cNvPr id="29" name="Picture 28">
            <a:extLst>
              <a:ext uri="{FF2B5EF4-FFF2-40B4-BE49-F238E27FC236}">
                <a16:creationId xmlns:a16="http://schemas.microsoft.com/office/drawing/2014/main" id="{81D01B7E-7FAC-92C9-F7A4-0AD798C73044}"/>
              </a:ext>
            </a:extLst>
          </p:cNvPr>
          <p:cNvPicPr>
            <a:picLocks noChangeAspect="1"/>
          </p:cNvPicPr>
          <p:nvPr/>
        </p:nvPicPr>
        <p:blipFill>
          <a:blip r:embed="rId4"/>
          <a:stretch>
            <a:fillRect/>
          </a:stretch>
        </p:blipFill>
        <p:spPr>
          <a:xfrm>
            <a:off x="6069495" y="1650105"/>
            <a:ext cx="2518836" cy="1778896"/>
          </a:xfrm>
          <a:prstGeom prst="rect">
            <a:avLst/>
          </a:prstGeom>
        </p:spPr>
      </p:pic>
      <p:sp>
        <p:nvSpPr>
          <p:cNvPr id="31" name="TextBox 30">
            <a:extLst>
              <a:ext uri="{FF2B5EF4-FFF2-40B4-BE49-F238E27FC236}">
                <a16:creationId xmlns:a16="http://schemas.microsoft.com/office/drawing/2014/main" id="{90B33680-A14D-7566-C31A-EF529D9DD372}"/>
              </a:ext>
            </a:extLst>
          </p:cNvPr>
          <p:cNvSpPr txBox="1"/>
          <p:nvPr/>
        </p:nvSpPr>
        <p:spPr>
          <a:xfrm>
            <a:off x="6069495" y="3443061"/>
            <a:ext cx="2419890" cy="646331"/>
          </a:xfrm>
          <a:prstGeom prst="rect">
            <a:avLst/>
          </a:prstGeom>
          <a:noFill/>
        </p:spPr>
        <p:txBody>
          <a:bodyPr wrap="square" rtlCol="0">
            <a:spAutoFit/>
          </a:bodyPr>
          <a:lstStyle/>
          <a:p>
            <a:pPr algn="ctr"/>
            <a:r>
              <a:rPr lang="en-US" b="1"/>
              <a:t>Avg. Size ~1.3GB</a:t>
            </a:r>
          </a:p>
          <a:p>
            <a:pPr algn="ctr"/>
            <a:r>
              <a:rPr lang="en-US" b="1"/>
              <a:t>~24000*19000 pixels</a:t>
            </a:r>
          </a:p>
        </p:txBody>
      </p:sp>
      <p:cxnSp>
        <p:nvCxnSpPr>
          <p:cNvPr id="32" name="Straight Arrow Connector 31">
            <a:extLst>
              <a:ext uri="{FF2B5EF4-FFF2-40B4-BE49-F238E27FC236}">
                <a16:creationId xmlns:a16="http://schemas.microsoft.com/office/drawing/2014/main" id="{35E1E58D-DDA7-4736-3071-D2F97F40855B}"/>
              </a:ext>
            </a:extLst>
          </p:cNvPr>
          <p:cNvCxnSpPr>
            <a:cxnSpLocks/>
          </p:cNvCxnSpPr>
          <p:nvPr/>
        </p:nvCxnSpPr>
        <p:spPr>
          <a:xfrm>
            <a:off x="8588331" y="2601700"/>
            <a:ext cx="1780358" cy="132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F1578585-3FB7-D983-BD66-CA0DC10183A5}"/>
              </a:ext>
            </a:extLst>
          </p:cNvPr>
          <p:cNvSpPr txBox="1"/>
          <p:nvPr/>
        </p:nvSpPr>
        <p:spPr>
          <a:xfrm>
            <a:off x="10071215" y="2417034"/>
            <a:ext cx="1780358" cy="369332"/>
          </a:xfrm>
          <a:prstGeom prst="rect">
            <a:avLst/>
          </a:prstGeom>
          <a:noFill/>
        </p:spPr>
        <p:txBody>
          <a:bodyPr wrap="square" rtlCol="0">
            <a:spAutoFit/>
          </a:bodyPr>
          <a:lstStyle/>
          <a:p>
            <a:pPr algn="ctr"/>
            <a:r>
              <a:rPr lang="en-US" b="1" dirty="0"/>
              <a:t>Model</a:t>
            </a:r>
          </a:p>
        </p:txBody>
      </p:sp>
      <p:sp>
        <p:nvSpPr>
          <p:cNvPr id="36" name="TextBox 35">
            <a:extLst>
              <a:ext uri="{FF2B5EF4-FFF2-40B4-BE49-F238E27FC236}">
                <a16:creationId xmlns:a16="http://schemas.microsoft.com/office/drawing/2014/main" id="{6E73BE87-804D-3410-2D5E-4922D2DC59F0}"/>
              </a:ext>
            </a:extLst>
          </p:cNvPr>
          <p:cNvSpPr txBox="1"/>
          <p:nvPr/>
        </p:nvSpPr>
        <p:spPr>
          <a:xfrm>
            <a:off x="8588331" y="2023141"/>
            <a:ext cx="1576947" cy="1754326"/>
          </a:xfrm>
          <a:prstGeom prst="rect">
            <a:avLst/>
          </a:prstGeom>
          <a:noFill/>
        </p:spPr>
        <p:txBody>
          <a:bodyPr wrap="square" rtlCol="0">
            <a:spAutoFit/>
          </a:bodyPr>
          <a:lstStyle/>
          <a:p>
            <a:pPr algn="ctr"/>
            <a:r>
              <a:rPr lang="en-US" b="1" dirty="0"/>
              <a:t>Pre-computed </a:t>
            </a:r>
          </a:p>
          <a:p>
            <a:pPr algn="ctr"/>
            <a:r>
              <a:rPr lang="en-US" b="1" dirty="0"/>
              <a:t>Patch level Features</a:t>
            </a:r>
          </a:p>
          <a:p>
            <a:pPr algn="ctr"/>
            <a:r>
              <a:rPr lang="en-US" b="1" dirty="0"/>
              <a:t>And spatial </a:t>
            </a:r>
            <a:r>
              <a:rPr lang="en-US" b="1" dirty="0" err="1"/>
              <a:t>coordiates</a:t>
            </a:r>
            <a:endParaRPr lang="en-US" b="1" dirty="0"/>
          </a:p>
        </p:txBody>
      </p:sp>
      <p:sp>
        <p:nvSpPr>
          <p:cNvPr id="37" name="Rounded Rectangle 36">
            <a:extLst>
              <a:ext uri="{FF2B5EF4-FFF2-40B4-BE49-F238E27FC236}">
                <a16:creationId xmlns:a16="http://schemas.microsoft.com/office/drawing/2014/main" id="{9824AEC7-C9EB-11CA-38E5-816DC17D2E0A}"/>
              </a:ext>
            </a:extLst>
          </p:cNvPr>
          <p:cNvSpPr/>
          <p:nvPr/>
        </p:nvSpPr>
        <p:spPr>
          <a:xfrm>
            <a:off x="487934" y="5070003"/>
            <a:ext cx="3532916" cy="16830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a:t>Training Data - NLST</a:t>
            </a:r>
          </a:p>
          <a:p>
            <a:pPr algn="ctr"/>
            <a:r>
              <a:rPr lang="en-US"/>
              <a:t>245 patients, 506 WSIs</a:t>
            </a:r>
          </a:p>
          <a:p>
            <a:pPr algn="ctr"/>
            <a:r>
              <a:rPr lang="en-US"/>
              <a:t>291 NOVITUMOR, 215 VITUMOR</a:t>
            </a:r>
          </a:p>
          <a:p>
            <a:pPr algn="ctr"/>
            <a:r>
              <a:rPr lang="en-US"/>
              <a:t>Patient-level Label</a:t>
            </a:r>
          </a:p>
        </p:txBody>
      </p:sp>
      <p:sp>
        <p:nvSpPr>
          <p:cNvPr id="38" name="Rounded Rectangle 37">
            <a:extLst>
              <a:ext uri="{FF2B5EF4-FFF2-40B4-BE49-F238E27FC236}">
                <a16:creationId xmlns:a16="http://schemas.microsoft.com/office/drawing/2014/main" id="{DBC0345C-0671-365B-2A7D-A828D94A8AF3}"/>
              </a:ext>
            </a:extLst>
          </p:cNvPr>
          <p:cNvSpPr/>
          <p:nvPr/>
        </p:nvSpPr>
        <p:spPr>
          <a:xfrm>
            <a:off x="7885838" y="5070003"/>
            <a:ext cx="4248316" cy="16830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External Data – Inova/Lahey</a:t>
            </a:r>
          </a:p>
          <a:p>
            <a:pPr algn="ctr"/>
            <a:r>
              <a:rPr lang="en-US" dirty="0"/>
              <a:t>158 patients, 314 WSIs</a:t>
            </a:r>
          </a:p>
          <a:p>
            <a:pPr algn="ctr"/>
            <a:r>
              <a:rPr lang="en-US" dirty="0"/>
              <a:t>220 NOVITUMOR, 94 VITUMOR</a:t>
            </a:r>
          </a:p>
          <a:p>
            <a:pPr algn="ctr"/>
            <a:r>
              <a:rPr lang="en-US" dirty="0"/>
              <a:t>Patient-level Label</a:t>
            </a:r>
          </a:p>
        </p:txBody>
      </p:sp>
      <p:cxnSp>
        <p:nvCxnSpPr>
          <p:cNvPr id="2" name="Straight Arrow Connector 1">
            <a:extLst>
              <a:ext uri="{FF2B5EF4-FFF2-40B4-BE49-F238E27FC236}">
                <a16:creationId xmlns:a16="http://schemas.microsoft.com/office/drawing/2014/main" id="{3F53D608-1DFB-0076-EF3A-98B8340592C1}"/>
              </a:ext>
            </a:extLst>
          </p:cNvPr>
          <p:cNvCxnSpPr>
            <a:cxnSpLocks/>
          </p:cNvCxnSpPr>
          <p:nvPr/>
        </p:nvCxnSpPr>
        <p:spPr>
          <a:xfrm flipH="1">
            <a:off x="10961394" y="2816431"/>
            <a:ext cx="13146" cy="204057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2761AA7C-9BFB-93A0-6F5D-BA9EF4D89B60}"/>
              </a:ext>
            </a:extLst>
          </p:cNvPr>
          <p:cNvSpPr txBox="1"/>
          <p:nvPr/>
        </p:nvSpPr>
        <p:spPr>
          <a:xfrm>
            <a:off x="9478510" y="3874093"/>
            <a:ext cx="1576947" cy="1200329"/>
          </a:xfrm>
          <a:prstGeom prst="rect">
            <a:avLst/>
          </a:prstGeom>
          <a:noFill/>
        </p:spPr>
        <p:txBody>
          <a:bodyPr wrap="square" rtlCol="0">
            <a:spAutoFit/>
          </a:bodyPr>
          <a:lstStyle/>
          <a:p>
            <a:pPr algn="ctr"/>
            <a:r>
              <a:rPr lang="en-US" b="1" dirty="0"/>
              <a:t>Team with best log loss for VI status wins</a:t>
            </a:r>
          </a:p>
        </p:txBody>
      </p:sp>
    </p:spTree>
    <p:extLst>
      <p:ext uri="{BB962C8B-B14F-4D97-AF65-F5344CB8AC3E}">
        <p14:creationId xmlns:p14="http://schemas.microsoft.com/office/powerpoint/2010/main" val="13413279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57</TotalTime>
  <Words>857</Words>
  <Application>Microsoft Macintosh PowerPoint</Application>
  <PresentationFormat>Widescreen</PresentationFormat>
  <Paragraphs>69</Paragraphs>
  <Slides>8</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Challenge 1:  Lung Cancer Phenotyping</vt:lpstr>
      <vt:lpstr>Lung cancer was still the leading cause of cancer death in 2025</vt:lpstr>
      <vt:lpstr>Lung cancer stage at diagnosis relative to other common cancers</vt:lpstr>
      <vt:lpstr>PowerPoint Presentation</vt:lpstr>
      <vt:lpstr>Detection of early-stage lung cancer is increasing</vt:lpstr>
      <vt:lpstr>Central Hypotheses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Beane-Ebel, Jennifer</dc:creator>
  <cp:lastModifiedBy>Beane-Ebel, Jennifer</cp:lastModifiedBy>
  <cp:revision>2</cp:revision>
  <dcterms:created xsi:type="dcterms:W3CDTF">2026-04-07T20:21:48Z</dcterms:created>
  <dcterms:modified xsi:type="dcterms:W3CDTF">2026-04-07T21:22:45Z</dcterms:modified>
</cp:coreProperties>
</file>